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513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svg"/><Relationship Id="rId18" Type="http://schemas.openxmlformats.org/officeDocument/2006/relationships/image" Target="../media/image4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svg"/><Relationship Id="rId17" Type="http://schemas.openxmlformats.org/officeDocument/2006/relationships/image" Target="../media/image47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svg"/><Relationship Id="rId10" Type="http://schemas.openxmlformats.org/officeDocument/2006/relationships/image" Target="../media/image40.svg"/><Relationship Id="rId19" Type="http://schemas.openxmlformats.org/officeDocument/2006/relationships/image" Target="../media/image49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Relationship Id="rId14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12" Type="http://schemas.openxmlformats.org/officeDocument/2006/relationships/image" Target="../media/image5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Relationship Id="rId14" Type="http://schemas.openxmlformats.org/officeDocument/2006/relationships/image" Target="../media/image6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svg"/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12" Type="http://schemas.openxmlformats.org/officeDocument/2006/relationships/image" Target="../media/image7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0" Type="http://schemas.openxmlformats.org/officeDocument/2006/relationships/image" Target="../media/image70.svg"/><Relationship Id="rId4" Type="http://schemas.openxmlformats.org/officeDocument/2006/relationships/image" Target="../media/image64.svg"/><Relationship Id="rId9" Type="http://schemas.openxmlformats.org/officeDocument/2006/relationships/image" Target="../media/image69.svg"/><Relationship Id="rId14" Type="http://schemas.openxmlformats.org/officeDocument/2006/relationships/image" Target="../media/image7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svg"/><Relationship Id="rId7" Type="http://schemas.openxmlformats.org/officeDocument/2006/relationships/image" Target="../media/image8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svg"/><Relationship Id="rId5" Type="http://schemas.openxmlformats.org/officeDocument/2006/relationships/image" Target="../media/image79.svg"/><Relationship Id="rId4" Type="http://schemas.openxmlformats.org/officeDocument/2006/relationships/image" Target="../media/image7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4" Type="http://schemas.openxmlformats.org/officeDocument/2006/relationships/image" Target="../media/image8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svg"/><Relationship Id="rId5" Type="http://schemas.openxmlformats.org/officeDocument/2006/relationships/image" Target="../media/image90.svg"/><Relationship Id="rId4" Type="http://schemas.openxmlformats.org/officeDocument/2006/relationships/image" Target="../media/image8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C1F3A"/>
              </a:gs>
              <a:gs pos="70000">
                <a:srgbClr val="000000">
                  <a:alpha val="0"/>
                </a:srgbClr>
              </a:gs>
            </a:gsLst>
            <a:path path="circle">
              <a:fillToRect l="30000" t="50000" r="7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91A2E"/>
              </a:gs>
              <a:gs pos="60000">
                <a:srgbClr val="000000">
                  <a:alpha val="0"/>
                </a:srgbClr>
              </a:gs>
            </a:gsLst>
            <a:path path="circle">
              <a:fillToRect l="80000" t="20000" r="2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90D13"/>
              </a:gs>
              <a:gs pos="40000">
                <a:srgbClr val="0D1117"/>
              </a:gs>
              <a:gs pos="100000">
                <a:srgbClr val="0B152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785515"/>
            <a:ext cx="4143970" cy="3572470"/>
          </a:xfrm>
          <a:prstGeom prst="rect">
            <a:avLst/>
          </a:prstGeom>
          <a:gradFill rotWithShape="1">
            <a:gsLst>
              <a:gs pos="0">
                <a:srgbClr val="58A6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43030" y="1543050"/>
            <a:ext cx="3000970" cy="2715220"/>
          </a:xfrm>
          <a:prstGeom prst="rect">
            <a:avLst/>
          </a:prstGeom>
          <a:gradFill rotWithShape="1">
            <a:gsLst>
              <a:gs pos="0">
                <a:srgbClr val="58A6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0"/>
            <a:ext cx="1384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5000">
                <a:srgbClr val="58A6FF">
                  <a:alpha val="60000"/>
                </a:srgbClr>
              </a:gs>
              <a:gs pos="65000">
                <a:srgbClr val="58A6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16452" y="257770"/>
            <a:ext cx="2155478" cy="300038"/>
          </a:xfrm>
          <a:prstGeom prst="roundRect">
            <a:avLst>
              <a:gd name="adj" fmla="val 1904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58A6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754118" y="379214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blurRad="57150" dist="50800" dir="16200000" algn="bl" rotWithShape="0">
              <a:srgbClr val="58A6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5925" y="341421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33171" y="338286"/>
            <a:ext cx="176120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 .NET USER GROUP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742950" y="1310134"/>
            <a:ext cx="257770" cy="13841"/>
          </a:xfrm>
          <a:prstGeom prst="roundRect">
            <a:avLst>
              <a:gd name="adj" fmla="val 100932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071711" y="1241822"/>
            <a:ext cx="11117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790" dirty="0"/>
          </a:p>
        </p:txBody>
      </p:sp>
      <p:sp>
        <p:nvSpPr>
          <p:cNvPr id="15" name="Text 11"/>
          <p:cNvSpPr/>
          <p:nvPr/>
        </p:nvSpPr>
        <p:spPr>
          <a:xfrm>
            <a:off x="2153394" y="1310134"/>
            <a:ext cx="128141" cy="13841"/>
          </a:xfrm>
          <a:prstGeom prst="roundRect">
            <a:avLst>
              <a:gd name="adj" fmla="val 100932"/>
            </a:avLst>
          </a:prstGeom>
          <a:solidFill>
            <a:srgbClr val="58A6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42950" y="1563737"/>
            <a:ext cx="7869555" cy="116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68"/>
              </a:lnSpc>
              <a:spcAft>
                <a:spcPts val="450"/>
              </a:spcAft>
              <a:buNone/>
            </a:pPr>
            <a:r>
              <a:rPr lang="en-US" sz="4160" b="1" kern="0" spc="-42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Spec-Driven</a:t>
            </a:r>
            <a:br/>
            <a:r>
              <a:rPr lang="en-US" sz="4160" kern="0" spc="-42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160" kern="0" spc="-42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Development</a:t>
            </a:r>
            <a:endParaRPr lang="en-US" sz="4160" dirty="0"/>
          </a:p>
        </p:txBody>
      </p:sp>
      <p:sp>
        <p:nvSpPr>
          <p:cNvPr id="17" name="Text 13"/>
          <p:cNvSpPr/>
          <p:nvPr/>
        </p:nvSpPr>
        <p:spPr>
          <a:xfrm>
            <a:off x="742950" y="2873722"/>
            <a:ext cx="8255317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spcBef>
                <a:spcPts val="1130"/>
              </a:spcBef>
              <a:buNone/>
            </a:pPr>
            <a:r>
              <a:rPr lang="en-US" sz="1460" b="1" kern="0" spc="15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prompting.</a:t>
            </a:r>
            <a:r>
              <a:rPr lang="en-US" sz="1460" kern="0" spc="1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speccing.</a:t>
            </a:r>
            <a:endParaRPr lang="en-US" sz="1460" dirty="0"/>
          </a:p>
        </p:txBody>
      </p:sp>
      <p:sp>
        <p:nvSpPr>
          <p:cNvPr id="18" name="Text 14"/>
          <p:cNvSpPr/>
          <p:nvPr/>
        </p:nvSpPr>
        <p:spPr>
          <a:xfrm>
            <a:off x="742950" y="3352502"/>
            <a:ext cx="3429000" cy="7590"/>
          </a:xfrm>
          <a:prstGeom prst="rect">
            <a:avLst/>
          </a:prstGeom>
          <a:gradFill rotWithShape="1">
            <a:gsLst>
              <a:gs pos="0">
                <a:srgbClr val="58A6FF">
                  <a:alpha val="50000"/>
                </a:srgbClr>
              </a:gs>
              <a:gs pos="100000">
                <a:srgbClr val="58A6FF">
                  <a:alpha val="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42950" y="3581251"/>
            <a:ext cx="299591" cy="329550"/>
          </a:xfrm>
          <a:prstGeom prst="ellipse">
            <a:avLst/>
          </a:prstGeom>
          <a:gradFill rotWithShape="1">
            <a:gsLst>
              <a:gs pos="0">
                <a:srgbClr val="58A6FF"/>
              </a:gs>
              <a:gs pos="100000">
                <a:srgbClr val="1A4F8A"/>
              </a:gs>
            </a:gsLst>
            <a:lin ang="2700000" scaled="1"/>
          </a:gradFill>
          <a:ln w="9525">
            <a:solidFill>
              <a:srgbClr val="58A6FF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10" dirty="0"/>
          </a:p>
        </p:txBody>
      </p:sp>
      <p:sp>
        <p:nvSpPr>
          <p:cNvPr id="20" name="Text 16"/>
          <p:cNvSpPr/>
          <p:nvPr/>
        </p:nvSpPr>
        <p:spPr>
          <a:xfrm>
            <a:off x="1156841" y="3560713"/>
            <a:ext cx="2215893" cy="68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60" b="1" kern="0" spc="19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Chu
</a:t>
            </a:r>
            <a:r>
              <a:rPr lang="en-US" sz="790" kern="0" spc="32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 .NET User Group  ·  October 2026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057900" y="1080046"/>
            <a:ext cx="2571750" cy="2425601"/>
          </a:xfrm>
          <a:prstGeom prst="roundRect">
            <a:avLst>
              <a:gd name="adj" fmla="val 3560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58A6FF">
                <a:alpha val="20000"/>
              </a:srgbClr>
            </a:solidFill>
          </a:ln>
          <a:effectLst>
            <a:outerShdw blurRad="429260" dist="143510" dir="54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057900" y="1080046"/>
            <a:ext cx="21570" cy="21570"/>
          </a:xfrm>
          <a:custGeom>
            <a:avLst/>
            <a:gdLst/>
            <a:ahLst/>
            <a:cxnLst/>
            <a:rect l="l" t="t" r="r" b="b"/>
            <a:pathLst>
              <a:path w="21570" h="21570">
                <a:moveTo>
                  <a:pt x="21570" y="0"/>
                </a:moveTo>
                <a:lnTo>
                  <a:pt x="20641" y="6254"/>
                </a:lnTo>
                <a:lnTo>
                  <a:pt x="17933" y="11979"/>
                </a:lnTo>
                <a:lnTo>
                  <a:pt x="11979" y="17933"/>
                </a:lnTo>
                <a:lnTo>
                  <a:pt x="6254" y="20641"/>
                </a:lnTo>
                <a:lnTo>
                  <a:pt x="0" y="21570"/>
                </a:lnTo>
                <a:lnTo>
                  <a:pt x="21040" y="0"/>
                </a:lnTo>
                <a:lnTo>
                  <a:pt x="0" y="21570"/>
                </a:lnTo>
                <a:lnTo>
                  <a:pt x="21570" y="21570"/>
                </a:lnTo>
                <a:close/>
              </a:path>
            </a:pathLst>
          </a:custGeom>
          <a:solidFill>
            <a:srgbClr val="58A6FF"/>
          </a:solidFill>
          <a:ln/>
          <a:effectLst>
            <a:outerShdw blurRad="71120" dist="50800" dir="16200000" algn="bl" rotWithShape="0">
              <a:srgbClr val="58A6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8589016" y="1080046"/>
            <a:ext cx="40634" cy="21570"/>
          </a:xfrm>
          <a:custGeom>
            <a:avLst/>
            <a:gdLst/>
            <a:ahLst/>
            <a:cxnLst/>
            <a:rect l="l" t="t" r="r" b="b"/>
            <a:pathLst>
              <a:path w="40634" h="21570">
                <a:moveTo>
                  <a:pt x="40634" y="0"/>
                </a:moveTo>
                <a:lnTo>
                  <a:pt x="40634" y="6254"/>
                </a:lnTo>
                <a:lnTo>
                  <a:pt x="39523" y="11979"/>
                </a:lnTo>
                <a:lnTo>
                  <a:pt x="33569" y="17933"/>
                </a:lnTo>
                <a:lnTo>
                  <a:pt x="27844" y="20641"/>
                </a:lnTo>
                <a:lnTo>
                  <a:pt x="21580" y="21570"/>
                </a:lnTo>
                <a:lnTo>
                  <a:pt x="15316" y="20641"/>
                </a:lnTo>
                <a:lnTo>
                  <a:pt x="9591" y="17933"/>
                </a:lnTo>
                <a:lnTo>
                  <a:pt x="3637" y="11979"/>
                </a:lnTo>
                <a:lnTo>
                  <a:pt x="929" y="6254"/>
                </a:lnTo>
                <a:lnTo>
                  <a:pt x="0" y="0"/>
                </a:lnTo>
                <a:lnTo>
                  <a:pt x="40634" y="0"/>
                </a:lnTo>
                <a:close/>
              </a:path>
            </a:pathLst>
          </a:custGeom>
          <a:solidFill>
            <a:srgbClr val="58A6FF"/>
          </a:solidFill>
          <a:ln/>
          <a:effectLst>
            <a:outerShdw blurRad="71120" dist="50800" dir="16200000" algn="bl" rotWithShape="0">
              <a:srgbClr val="58A6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057900" y="3465020"/>
            <a:ext cx="21570" cy="40627"/>
          </a:xfrm>
          <a:custGeom>
            <a:avLst/>
            <a:gdLst/>
            <a:ahLst/>
            <a:cxnLst/>
            <a:rect l="l" t="t" r="r" b="b"/>
            <a:pathLst>
              <a:path w="21570" h="40627">
                <a:moveTo>
                  <a:pt x="21570" y="21580"/>
                </a:moveTo>
                <a:lnTo>
                  <a:pt x="20641" y="27844"/>
                </a:lnTo>
                <a:lnTo>
                  <a:pt x="17933" y="33569"/>
                </a:lnTo>
                <a:lnTo>
                  <a:pt x="11979" y="39523"/>
                </a:lnTo>
                <a:lnTo>
                  <a:pt x="6254" y="40627"/>
                </a:lnTo>
                <a:lnTo>
                  <a:pt x="0" y="40627"/>
                </a:lnTo>
                <a:lnTo>
                  <a:pt x="0" y="530"/>
                </a:lnTo>
                <a:lnTo>
                  <a:pt x="6254" y="929"/>
                </a:lnTo>
                <a:lnTo>
                  <a:pt x="11979" y="3637"/>
                </a:lnTo>
                <a:lnTo>
                  <a:pt x="17933" y="9591"/>
                </a:lnTo>
                <a:lnTo>
                  <a:pt x="20641" y="15316"/>
                </a:lnTo>
                <a:lnTo>
                  <a:pt x="21570" y="21580"/>
                </a:lnTo>
                <a:lnTo>
                  <a:pt x="21570" y="15332"/>
                </a:lnTo>
                <a:lnTo>
                  <a:pt x="14554" y="2246"/>
                </a:lnTo>
                <a:lnTo>
                  <a:pt x="0" y="0"/>
                </a:lnTo>
                <a:close/>
              </a:path>
            </a:pathLst>
          </a:custGeom>
          <a:solidFill>
            <a:srgbClr val="58A6FF"/>
          </a:solidFill>
          <a:ln/>
          <a:effectLst>
            <a:outerShdw blurRad="71120" dist="50800" dir="16200000" algn="bl" rotWithShape="0">
              <a:srgbClr val="58A6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8589016" y="3465020"/>
            <a:ext cx="40634" cy="40627"/>
          </a:xfrm>
          <a:custGeom>
            <a:avLst/>
            <a:gdLst/>
            <a:ahLst/>
            <a:cxnLst/>
            <a:rect l="l" t="t" r="r" b="b"/>
            <a:pathLst>
              <a:path w="40634" h="40627">
                <a:moveTo>
                  <a:pt x="40634" y="21580"/>
                </a:moveTo>
                <a:lnTo>
                  <a:pt x="40634" y="27844"/>
                </a:lnTo>
                <a:lnTo>
                  <a:pt x="39523" y="33569"/>
                </a:lnTo>
                <a:lnTo>
                  <a:pt x="33569" y="39523"/>
                </a:lnTo>
                <a:lnTo>
                  <a:pt x="27844" y="40627"/>
                </a:lnTo>
                <a:lnTo>
                  <a:pt x="21580" y="40627"/>
                </a:lnTo>
                <a:lnTo>
                  <a:pt x="15316" y="40627"/>
                </a:lnTo>
                <a:lnTo>
                  <a:pt x="9591" y="39523"/>
                </a:lnTo>
                <a:lnTo>
                  <a:pt x="3637" y="33569"/>
                </a:lnTo>
                <a:lnTo>
                  <a:pt x="929" y="27844"/>
                </a:lnTo>
                <a:lnTo>
                  <a:pt x="0" y="21580"/>
                </a:lnTo>
                <a:lnTo>
                  <a:pt x="929" y="15316"/>
                </a:lnTo>
                <a:lnTo>
                  <a:pt x="3637" y="9591"/>
                </a:lnTo>
                <a:lnTo>
                  <a:pt x="9591" y="3637"/>
                </a:lnTo>
                <a:lnTo>
                  <a:pt x="15316" y="929"/>
                </a:lnTo>
                <a:lnTo>
                  <a:pt x="21580" y="0"/>
                </a:lnTo>
                <a:lnTo>
                  <a:pt x="27844" y="929"/>
                </a:lnTo>
                <a:lnTo>
                  <a:pt x="33569" y="3637"/>
                </a:lnTo>
                <a:lnTo>
                  <a:pt x="39523" y="9591"/>
                </a:lnTo>
                <a:lnTo>
                  <a:pt x="40634" y="15316"/>
                </a:lnTo>
                <a:lnTo>
                  <a:pt x="40634" y="21580"/>
                </a:lnTo>
                <a:close/>
              </a:path>
            </a:pathLst>
          </a:custGeom>
          <a:solidFill>
            <a:srgbClr val="58A6FF"/>
          </a:solidFill>
          <a:ln/>
          <a:effectLst>
            <a:outerShdw blurRad="71120" dist="50800" dir="16200000" algn="bl" rotWithShape="0">
              <a:srgbClr val="58A6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067425" y="1089571"/>
            <a:ext cx="2552700" cy="280988"/>
          </a:xfrm>
          <a:prstGeom prst="rect">
            <a:avLst/>
          </a:prstGeom>
          <a:solidFill>
            <a:srgbClr val="58A6FF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067425" y="1361033"/>
            <a:ext cx="2552700" cy="9525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181725" y="1189732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309866" y="1189732"/>
            <a:ext cx="70991" cy="70991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438007" y="1189732"/>
            <a:ext cx="70991" cy="70991"/>
          </a:xfrm>
          <a:prstGeom prst="ellipse">
            <a:avLst/>
          </a:prstGeom>
          <a:solidFill>
            <a:srgbClr val="28CA4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609308" y="1160562"/>
            <a:ext cx="119852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 / ARCHITECTURE.md</a:t>
            </a:r>
            <a:endParaRPr lang="en-US" sz="680" dirty="0"/>
          </a:p>
        </p:txBody>
      </p:sp>
      <p:sp>
        <p:nvSpPr>
          <p:cNvPr id="32" name="Text 28"/>
          <p:cNvSpPr/>
          <p:nvPr/>
        </p:nvSpPr>
        <p:spPr>
          <a:xfrm>
            <a:off x="6210895" y="1514029"/>
            <a:ext cx="24923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3C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Architecture Spec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6210895" y="1698575"/>
            <a:ext cx="24923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Stack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6210895" y="1853952"/>
            <a:ext cx="2492335" cy="155377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.NET 9 Minimal API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6210895" y="1971806"/>
            <a:ext cx="2492335" cy="155377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Core + PostgreSQL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6210895" y="2207865"/>
            <a:ext cx="2492335" cy="228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Patterns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210895" y="2363242"/>
            <a:ext cx="2492335" cy="155377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pattern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210895" y="2518618"/>
            <a:ext cx="2492335" cy="155377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FluentValidation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210895" y="2717154"/>
            <a:ext cx="2492335" cy="323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Non-Negotiables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6210895" y="2872532"/>
            <a:ext cx="2492335" cy="155377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static classes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210895" y="3027908"/>
            <a:ext cx="2492335" cy="155377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raw SQL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dirty="0"/>
            </a:b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6210895" y="3183285"/>
            <a:ext cx="2492335" cy="155377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envelope</a:t>
            </a: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7469686" y="3505647"/>
            <a:ext cx="1017397" cy="217288"/>
          </a:xfrm>
          <a:prstGeom prst="roundRect">
            <a:avLst>
              <a:gd name="adj" fmla="val 102800"/>
            </a:avLst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40000"/>
              </a:srgbClr>
            </a:solidFill>
          </a:ln>
        </p:spPr>
        <p:txBody>
          <a:bodyPr wrap="none" lIns="202446" tIns="43180" rIns="100330" bIns="4318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Agent-readable</a:t>
            </a:r>
            <a:endParaRPr lang="en-US" sz="68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2218" y="3426702"/>
            <a:ext cx="132588" cy="13258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057900" y="3763417"/>
            <a:ext cx="1725260" cy="300038"/>
          </a:xfrm>
          <a:prstGeom prst="roundRect">
            <a:avLst>
              <a:gd name="adj" fmla="val 19048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260578" tIns="71120" rIns="114300" bIns="7112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 Mode</a:t>
            </a:r>
            <a:endParaRPr lang="en-US" sz="73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3010" y="3847067"/>
            <a:ext cx="132588" cy="13258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>
                  <a:alpha val="50000"/>
                </a:srgbClr>
              </a:gs>
              <a:gs pos="70000">
                <a:srgbClr val="58A6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/>
              </a:gs>
              <a:gs pos="70000">
                <a:srgbClr val="A371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21116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100330" y="0"/>
                </a:moveTo>
                <a:lnTo>
                  <a:pt x="1830416" y="0"/>
                </a:lnTo>
                <a:lnTo>
                  <a:pt x="1848968" y="1730"/>
                </a:lnTo>
                <a:lnTo>
                  <a:pt x="1856538" y="3460"/>
                </a:lnTo>
                <a:lnTo>
                  <a:pt x="1862268" y="5190"/>
                </a:lnTo>
                <a:lnTo>
                  <a:pt x="1867033" y="6920"/>
                </a:lnTo>
                <a:lnTo>
                  <a:pt x="1871172" y="8651"/>
                </a:lnTo>
                <a:lnTo>
                  <a:pt x="1874860" y="10381"/>
                </a:lnTo>
                <a:lnTo>
                  <a:pt x="1878202" y="12111"/>
                </a:lnTo>
                <a:lnTo>
                  <a:pt x="1881267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59993" y="121116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100330" y="0"/>
                </a:moveTo>
                <a:lnTo>
                  <a:pt x="1830416" y="0"/>
                </a:lnTo>
                <a:lnTo>
                  <a:pt x="1848968" y="1730"/>
                </a:lnTo>
                <a:lnTo>
                  <a:pt x="1856538" y="3460"/>
                </a:lnTo>
                <a:lnTo>
                  <a:pt x="1862268" y="5190"/>
                </a:lnTo>
                <a:lnTo>
                  <a:pt x="1867033" y="6920"/>
                </a:lnTo>
                <a:lnTo>
                  <a:pt x="1871172" y="8651"/>
                </a:lnTo>
                <a:lnTo>
                  <a:pt x="1874860" y="10381"/>
                </a:lnTo>
                <a:lnTo>
                  <a:pt x="1878202" y="12111"/>
                </a:lnTo>
                <a:lnTo>
                  <a:pt x="1881267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53260" y="121116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100330" y="0"/>
                </a:moveTo>
                <a:lnTo>
                  <a:pt x="1830416" y="0"/>
                </a:lnTo>
                <a:lnTo>
                  <a:pt x="1848968" y="1730"/>
                </a:lnTo>
                <a:lnTo>
                  <a:pt x="1856538" y="3460"/>
                </a:lnTo>
                <a:lnTo>
                  <a:pt x="1862268" y="5190"/>
                </a:lnTo>
                <a:lnTo>
                  <a:pt x="1867033" y="6920"/>
                </a:lnTo>
                <a:lnTo>
                  <a:pt x="1871172" y="8651"/>
                </a:lnTo>
                <a:lnTo>
                  <a:pt x="1874860" y="10381"/>
                </a:lnTo>
                <a:lnTo>
                  <a:pt x="1878202" y="12111"/>
                </a:lnTo>
                <a:lnTo>
                  <a:pt x="1881267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46528" y="1211163"/>
            <a:ext cx="1930746" cy="13841"/>
          </a:xfrm>
          <a:custGeom>
            <a:avLst/>
            <a:gdLst/>
            <a:ahLst/>
            <a:cxnLst/>
            <a:rect l="l" t="t" r="r" b="b"/>
            <a:pathLst>
              <a:path w="1930746" h="13841">
                <a:moveTo>
                  <a:pt x="100330" y="0"/>
                </a:moveTo>
                <a:lnTo>
                  <a:pt x="1830416" y="0"/>
                </a:lnTo>
                <a:lnTo>
                  <a:pt x="1848968" y="1730"/>
                </a:lnTo>
                <a:lnTo>
                  <a:pt x="1856538" y="3460"/>
                </a:lnTo>
                <a:lnTo>
                  <a:pt x="1862268" y="5190"/>
                </a:lnTo>
                <a:lnTo>
                  <a:pt x="1867033" y="6920"/>
                </a:lnTo>
                <a:lnTo>
                  <a:pt x="1871172" y="8651"/>
                </a:lnTo>
                <a:lnTo>
                  <a:pt x="1874860" y="10381"/>
                </a:lnTo>
                <a:lnTo>
                  <a:pt x="1878202" y="12111"/>
                </a:lnTo>
                <a:lnTo>
                  <a:pt x="1881267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432048"/>
            <a:ext cx="228600" cy="21580"/>
          </a:xfrm>
          <a:prstGeom prst="roundRect">
            <a:avLst>
              <a:gd name="adj" fmla="val 64736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582067"/>
            <a:ext cx="8641080" cy="36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49"/>
              </a:lnSpc>
              <a:buNone/>
            </a:pPr>
            <a:r>
              <a:rPr lang="en-US" sz="2590" kern="0" spc="-26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</a:t>
            </a:r>
            <a:r>
              <a:rPr lang="en-US" sz="2590" b="1" kern="0" spc="-26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Spec-Driven</a:t>
            </a:r>
            <a:r>
              <a:rPr lang="en-US" sz="2590" kern="0" spc="-26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Development?</a:t>
            </a:r>
            <a:endParaRPr lang="en-US" sz="2590" dirty="0"/>
          </a:p>
        </p:txBody>
      </p:sp>
      <p:sp>
        <p:nvSpPr>
          <p:cNvPr id="10" name="Text 8"/>
          <p:cNvSpPr/>
          <p:nvPr/>
        </p:nvSpPr>
        <p:spPr>
          <a:xfrm>
            <a:off x="457200" y="1201638"/>
            <a:ext cx="1949797" cy="3152031"/>
          </a:xfrm>
          <a:prstGeom prst="roundRect">
            <a:avLst>
              <a:gd name="adj" fmla="val 514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8175" y="1411784"/>
            <a:ext cx="372070" cy="372070"/>
          </a:xfrm>
          <a:prstGeom prst="ellipse">
            <a:avLst/>
          </a:prstGeom>
          <a:gradFill rotWithShape="1">
            <a:gsLst>
              <a:gs pos="0">
                <a:srgbClr val="58A6F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softEdge rad="57150"/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22711" y="1339304"/>
            <a:ext cx="34785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480" dirty="0">
                <a:solidFill>
                  <a:srgbClr val="58A6FF">
                    <a:alpha val="7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480" dirty="0"/>
          </a:p>
        </p:txBody>
      </p:sp>
      <p:sp>
        <p:nvSpPr>
          <p:cNvPr id="13" name="Text 11"/>
          <p:cNvSpPr/>
          <p:nvPr/>
        </p:nvSpPr>
        <p:spPr>
          <a:xfrm>
            <a:off x="667345" y="143976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878" y="1556296"/>
            <a:ext cx="139005" cy="13900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7345" y="1912144"/>
            <a:ext cx="168245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Specs</a:t>
            </a:r>
            <a:endParaRPr lang="en-US" sz="1130" dirty="0"/>
          </a:p>
        </p:txBody>
      </p:sp>
      <p:sp>
        <p:nvSpPr>
          <p:cNvPr id="16" name="Text 13"/>
          <p:cNvSpPr/>
          <p:nvPr/>
        </p:nvSpPr>
        <p:spPr>
          <a:xfrm>
            <a:off x="667345" y="2184499"/>
            <a:ext cx="1560097" cy="743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intent in machine-readable markdown files that define behaviour, architecture, and constraints.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50468" y="1201638"/>
            <a:ext cx="1949797" cy="3152031"/>
          </a:xfrm>
          <a:prstGeom prst="roundRect">
            <a:avLst>
              <a:gd name="adj" fmla="val 514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731443" y="1411784"/>
            <a:ext cx="372070" cy="372070"/>
          </a:xfrm>
          <a:prstGeom prst="ellipse">
            <a:avLst/>
          </a:prstGeom>
          <a:gradFill rotWithShape="1">
            <a:gsLst>
              <a:gs pos="0">
                <a:srgbClr val="58A6F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softEdge rad="57150"/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015978" y="1339304"/>
            <a:ext cx="34785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480" dirty="0">
                <a:solidFill>
                  <a:srgbClr val="58A6FF">
                    <a:alpha val="7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480" dirty="0"/>
          </a:p>
        </p:txBody>
      </p:sp>
      <p:sp>
        <p:nvSpPr>
          <p:cNvPr id="20" name="Text 17"/>
          <p:cNvSpPr/>
          <p:nvPr/>
        </p:nvSpPr>
        <p:spPr>
          <a:xfrm>
            <a:off x="2760613" y="143976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7145" y="1556296"/>
            <a:ext cx="139005" cy="13900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760613" y="1912144"/>
            <a:ext cx="168245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 Builder</a:t>
            </a:r>
            <a:endParaRPr lang="en-US" sz="1130" dirty="0"/>
          </a:p>
        </p:txBody>
      </p:sp>
      <p:sp>
        <p:nvSpPr>
          <p:cNvPr id="23" name="Text 19"/>
          <p:cNvSpPr/>
          <p:nvPr/>
        </p:nvSpPr>
        <p:spPr>
          <a:xfrm>
            <a:off x="2760613" y="2184499"/>
            <a:ext cx="1560097" cy="55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 reads specs and generates entire features, not just snippets.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643735" y="1201638"/>
            <a:ext cx="1949797" cy="3152031"/>
          </a:xfrm>
          <a:prstGeom prst="roundRect">
            <a:avLst>
              <a:gd name="adj" fmla="val 514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824710" y="1411784"/>
            <a:ext cx="372070" cy="372070"/>
          </a:xfrm>
          <a:prstGeom prst="ellipse">
            <a:avLst/>
          </a:prstGeom>
          <a:gradFill rotWithShape="1">
            <a:gsLst>
              <a:gs pos="0">
                <a:srgbClr val="58A6F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softEdge rad="57150"/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109246" y="1339304"/>
            <a:ext cx="34785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480" dirty="0">
                <a:solidFill>
                  <a:srgbClr val="58A6FF">
                    <a:alpha val="7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480" dirty="0"/>
          </a:p>
        </p:txBody>
      </p:sp>
      <p:sp>
        <p:nvSpPr>
          <p:cNvPr id="27" name="Text 23"/>
          <p:cNvSpPr/>
          <p:nvPr/>
        </p:nvSpPr>
        <p:spPr>
          <a:xfrm>
            <a:off x="4853880" y="143976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0413" y="1556296"/>
            <a:ext cx="139005" cy="13900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53880" y="1912144"/>
            <a:ext cx="168245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by Design</a:t>
            </a:r>
            <a:endParaRPr lang="en-US" sz="1130" dirty="0"/>
          </a:p>
        </p:txBody>
      </p:sp>
      <p:sp>
        <p:nvSpPr>
          <p:cNvPr id="30" name="Text 25"/>
          <p:cNvSpPr/>
          <p:nvPr/>
        </p:nvSpPr>
        <p:spPr>
          <a:xfrm>
            <a:off x="4853880" y="2184499"/>
            <a:ext cx="1560097" cy="743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evolve with the codebase; the agent rereads them on every task to stay in sync.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737003" y="1201638"/>
            <a:ext cx="1949797" cy="3152031"/>
          </a:xfrm>
          <a:prstGeom prst="roundRect">
            <a:avLst>
              <a:gd name="adj" fmla="val 514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917978" y="1411784"/>
            <a:ext cx="372070" cy="372070"/>
          </a:xfrm>
          <a:prstGeom prst="ellipse">
            <a:avLst/>
          </a:prstGeom>
          <a:gradFill rotWithShape="1">
            <a:gsLst>
              <a:gs pos="0">
                <a:srgbClr val="58A6F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softEdge rad="57150"/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8202513" y="1339304"/>
            <a:ext cx="34785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480" dirty="0">
                <a:solidFill>
                  <a:srgbClr val="58A6FF">
                    <a:alpha val="7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480" dirty="0"/>
          </a:p>
        </p:txBody>
      </p:sp>
      <p:sp>
        <p:nvSpPr>
          <p:cNvPr id="34" name="Text 29"/>
          <p:cNvSpPr/>
          <p:nvPr/>
        </p:nvSpPr>
        <p:spPr>
          <a:xfrm>
            <a:off x="6947148" y="143976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3680" y="1556296"/>
            <a:ext cx="139005" cy="13900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47148" y="1912144"/>
            <a:ext cx="168245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 Code</a:t>
            </a:r>
            <a:endParaRPr lang="en-US" sz="1130" dirty="0"/>
          </a:p>
        </p:txBody>
      </p:sp>
      <p:sp>
        <p:nvSpPr>
          <p:cNvPr id="37" name="Text 31"/>
          <p:cNvSpPr/>
          <p:nvPr/>
        </p:nvSpPr>
        <p:spPr>
          <a:xfrm>
            <a:off x="6947148" y="2184499"/>
            <a:ext cx="1560097" cy="743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patterns, and conventions live in versioned spec files alongside your source.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457200" y="4611439"/>
            <a:ext cx="8229600" cy="9525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485" y="4659073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18679" y="4650135"/>
            <a:ext cx="329664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are the single source of truth — for humans and agents</a:t>
            </a:r>
            <a:endParaRPr lang="en-US" sz="790" dirty="0"/>
          </a:p>
        </p:txBody>
      </p:sp>
      <p:sp>
        <p:nvSpPr>
          <p:cNvPr id="41" name="Text 34"/>
          <p:cNvSpPr/>
          <p:nvPr/>
        </p:nvSpPr>
        <p:spPr>
          <a:xfrm>
            <a:off x="7042993" y="4655790"/>
            <a:ext cx="180818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58A6FF">
                    <a:alpha val="4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EDMONTON .NET USER GROUP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857500" cy="2857500"/>
          </a:xfrm>
          <a:prstGeom prst="rect">
            <a:avLst/>
          </a:prstGeom>
          <a:gradFill rotWithShape="1">
            <a:gsLst>
              <a:gs pos="0">
                <a:srgbClr val="58A6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720" y="3000970"/>
            <a:ext cx="2428280" cy="2142530"/>
          </a:xfrm>
          <a:prstGeom prst="rect">
            <a:avLst/>
          </a:prstGeom>
          <a:gradFill rotWithShape="1">
            <a:gsLst>
              <a:gs pos="0">
                <a:srgbClr val="58A6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359585"/>
            <a:ext cx="21580" cy="1397051"/>
          </a:xfrm>
          <a:custGeom>
            <a:avLst/>
            <a:gdLst/>
            <a:ahLst/>
            <a:cxnLst/>
            <a:rect l="l" t="t" r="r" b="b"/>
            <a:pathLst>
              <a:path w="21580" h="1397051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1383081"/>
                </a:lnTo>
                <a:lnTo>
                  <a:pt x="21580" y="1383081"/>
                </a:lnTo>
                <a:lnTo>
                  <a:pt x="21312" y="1385806"/>
                </a:lnTo>
                <a:lnTo>
                  <a:pt x="20517" y="1388427"/>
                </a:lnTo>
                <a:lnTo>
                  <a:pt x="19226" y="1390842"/>
                </a:lnTo>
                <a:lnTo>
                  <a:pt x="17488" y="1392959"/>
                </a:lnTo>
                <a:lnTo>
                  <a:pt x="15371" y="1394696"/>
                </a:lnTo>
                <a:lnTo>
                  <a:pt x="12956" y="1395987"/>
                </a:lnTo>
                <a:lnTo>
                  <a:pt x="10335" y="1396782"/>
                </a:lnTo>
                <a:lnTo>
                  <a:pt x="7610" y="1397051"/>
                </a:lnTo>
                <a:lnTo>
                  <a:pt x="0" y="1397051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48025" y="1359585"/>
            <a:ext cx="21580" cy="1397051"/>
          </a:xfrm>
          <a:custGeom>
            <a:avLst/>
            <a:gdLst/>
            <a:ahLst/>
            <a:cxnLst/>
            <a:rect l="l" t="t" r="r" b="b"/>
            <a:pathLst>
              <a:path w="21580" h="1397051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1383081"/>
                </a:lnTo>
                <a:lnTo>
                  <a:pt x="21580" y="1383081"/>
                </a:lnTo>
                <a:lnTo>
                  <a:pt x="21312" y="1385806"/>
                </a:lnTo>
                <a:lnTo>
                  <a:pt x="20517" y="1388427"/>
                </a:lnTo>
                <a:lnTo>
                  <a:pt x="19226" y="1390842"/>
                </a:lnTo>
                <a:lnTo>
                  <a:pt x="17488" y="1392959"/>
                </a:lnTo>
                <a:lnTo>
                  <a:pt x="15371" y="1394696"/>
                </a:lnTo>
                <a:lnTo>
                  <a:pt x="12956" y="1395987"/>
                </a:lnTo>
                <a:lnTo>
                  <a:pt x="10335" y="1396782"/>
                </a:lnTo>
                <a:lnTo>
                  <a:pt x="7610" y="1397051"/>
                </a:lnTo>
                <a:lnTo>
                  <a:pt x="0" y="1397051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9325" y="1359585"/>
            <a:ext cx="21580" cy="1397051"/>
          </a:xfrm>
          <a:custGeom>
            <a:avLst/>
            <a:gdLst/>
            <a:ahLst/>
            <a:cxnLst/>
            <a:rect l="l" t="t" r="r" b="b"/>
            <a:pathLst>
              <a:path w="21580" h="1397051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1383081"/>
                </a:lnTo>
                <a:lnTo>
                  <a:pt x="21580" y="1383081"/>
                </a:lnTo>
                <a:lnTo>
                  <a:pt x="21312" y="1385806"/>
                </a:lnTo>
                <a:lnTo>
                  <a:pt x="20517" y="1388427"/>
                </a:lnTo>
                <a:lnTo>
                  <a:pt x="19226" y="1390842"/>
                </a:lnTo>
                <a:lnTo>
                  <a:pt x="17488" y="1392959"/>
                </a:lnTo>
                <a:lnTo>
                  <a:pt x="15371" y="1394696"/>
                </a:lnTo>
                <a:lnTo>
                  <a:pt x="12956" y="1395987"/>
                </a:lnTo>
                <a:lnTo>
                  <a:pt x="10335" y="1396782"/>
                </a:lnTo>
                <a:lnTo>
                  <a:pt x="7610" y="1397051"/>
                </a:lnTo>
                <a:lnTo>
                  <a:pt x="0" y="1397051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725" y="3062625"/>
            <a:ext cx="21580" cy="1397203"/>
          </a:xfrm>
          <a:custGeom>
            <a:avLst/>
            <a:gdLst/>
            <a:ahLst/>
            <a:cxnLst/>
            <a:rect l="l" t="t" r="r" b="b"/>
            <a:pathLst>
              <a:path w="21580" h="1397203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1383233"/>
                </a:lnTo>
                <a:lnTo>
                  <a:pt x="21580" y="1383233"/>
                </a:lnTo>
                <a:lnTo>
                  <a:pt x="21312" y="1385959"/>
                </a:lnTo>
                <a:lnTo>
                  <a:pt x="20517" y="1388579"/>
                </a:lnTo>
                <a:lnTo>
                  <a:pt x="19226" y="1390995"/>
                </a:lnTo>
                <a:lnTo>
                  <a:pt x="17488" y="1393111"/>
                </a:lnTo>
                <a:lnTo>
                  <a:pt x="15371" y="1394849"/>
                </a:lnTo>
                <a:lnTo>
                  <a:pt x="12956" y="1396140"/>
                </a:lnTo>
                <a:lnTo>
                  <a:pt x="10335" y="1396935"/>
                </a:lnTo>
                <a:lnTo>
                  <a:pt x="7610" y="1397203"/>
                </a:lnTo>
                <a:lnTo>
                  <a:pt x="0" y="1397203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48025" y="3062625"/>
            <a:ext cx="21580" cy="1397203"/>
          </a:xfrm>
          <a:custGeom>
            <a:avLst/>
            <a:gdLst/>
            <a:ahLst/>
            <a:cxnLst/>
            <a:rect l="l" t="t" r="r" b="b"/>
            <a:pathLst>
              <a:path w="21580" h="1397203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1383233"/>
                </a:lnTo>
                <a:lnTo>
                  <a:pt x="21580" y="1383233"/>
                </a:lnTo>
                <a:lnTo>
                  <a:pt x="21312" y="1385959"/>
                </a:lnTo>
                <a:lnTo>
                  <a:pt x="20517" y="1388579"/>
                </a:lnTo>
                <a:lnTo>
                  <a:pt x="19226" y="1390995"/>
                </a:lnTo>
                <a:lnTo>
                  <a:pt x="17488" y="1393111"/>
                </a:lnTo>
                <a:lnTo>
                  <a:pt x="15371" y="1394849"/>
                </a:lnTo>
                <a:lnTo>
                  <a:pt x="12956" y="1396140"/>
                </a:lnTo>
                <a:lnTo>
                  <a:pt x="10335" y="1396935"/>
                </a:lnTo>
                <a:lnTo>
                  <a:pt x="7610" y="1397203"/>
                </a:lnTo>
                <a:lnTo>
                  <a:pt x="0" y="1397203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29325" y="3062625"/>
            <a:ext cx="21580" cy="1397203"/>
          </a:xfrm>
          <a:custGeom>
            <a:avLst/>
            <a:gdLst/>
            <a:ahLst/>
            <a:cxnLst/>
            <a:rect l="l" t="t" r="r" b="b"/>
            <a:pathLst>
              <a:path w="21580" h="1397203">
                <a:moveTo>
                  <a:pt x="0" y="0"/>
                </a:moveTo>
                <a:lnTo>
                  <a:pt x="7610" y="0"/>
                </a:lnTo>
                <a:lnTo>
                  <a:pt x="7610" y="0"/>
                </a:lnTo>
                <a:lnTo>
                  <a:pt x="10335" y="268"/>
                </a:lnTo>
                <a:lnTo>
                  <a:pt x="12956" y="1063"/>
                </a:lnTo>
                <a:lnTo>
                  <a:pt x="15371" y="2354"/>
                </a:lnTo>
                <a:lnTo>
                  <a:pt x="17488" y="4092"/>
                </a:lnTo>
                <a:lnTo>
                  <a:pt x="19226" y="6209"/>
                </a:lnTo>
                <a:lnTo>
                  <a:pt x="20517" y="8624"/>
                </a:lnTo>
                <a:lnTo>
                  <a:pt x="21312" y="11245"/>
                </a:lnTo>
                <a:lnTo>
                  <a:pt x="21580" y="13970"/>
                </a:lnTo>
                <a:lnTo>
                  <a:pt x="21580" y="1383233"/>
                </a:lnTo>
                <a:lnTo>
                  <a:pt x="21580" y="1383233"/>
                </a:lnTo>
                <a:lnTo>
                  <a:pt x="21312" y="1385959"/>
                </a:lnTo>
                <a:lnTo>
                  <a:pt x="20517" y="1388579"/>
                </a:lnTo>
                <a:lnTo>
                  <a:pt x="19226" y="1390995"/>
                </a:lnTo>
                <a:lnTo>
                  <a:pt x="17488" y="1393111"/>
                </a:lnTo>
                <a:lnTo>
                  <a:pt x="15371" y="1394849"/>
                </a:lnTo>
                <a:lnTo>
                  <a:pt x="12956" y="1396140"/>
                </a:lnTo>
                <a:lnTo>
                  <a:pt x="10335" y="1396935"/>
                </a:lnTo>
                <a:lnTo>
                  <a:pt x="7610" y="1397203"/>
                </a:lnTo>
                <a:lnTo>
                  <a:pt x="0" y="1397203"/>
                </a:lnTo>
                <a:close/>
              </a:path>
            </a:pathLst>
          </a:cu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517475"/>
            <a:ext cx="35421" cy="342900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58A6FF"/>
              </a:gs>
              <a:gs pos="100000">
                <a:srgbClr val="58A6FF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0762" y="372070"/>
            <a:ext cx="1996535" cy="228898"/>
          </a:xfrm>
          <a:prstGeom prst="roundRect">
            <a:avLst>
              <a:gd name="adj" fmla="val 62696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none" lIns="222220" tIns="35560" rIns="100330" bIns="35560" rtlCol="0" anchor="ctr"/>
          <a:lstStyle/>
          <a:p>
            <a:pPr marL="0" indent="0" algn="l">
              <a:buNone/>
            </a:pPr>
            <a:r>
              <a:rPr lang="en-US" sz="730" kern="0" spc="44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SPEC-DRIVEN DEVELOPMENT</a:t>
            </a:r>
            <a:endParaRPr lang="en-US" sz="73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673" y="420151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0762" y="644128"/>
            <a:ext cx="2245906" cy="361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49"/>
              </a:lnSpc>
              <a:spcBef>
                <a:spcPts val="340"/>
              </a:spcBef>
              <a:buNone/>
            </a:pPr>
            <a:r>
              <a:rPr lang="en-US" sz="259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It </a:t>
            </a:r>
            <a:r>
              <a:rPr lang="en-US" sz="2590" b="1" kern="0" spc="-3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Matters</a:t>
            </a:r>
            <a:endParaRPr lang="en-US" sz="2590" dirty="0"/>
          </a:p>
        </p:txBody>
      </p:sp>
      <p:sp>
        <p:nvSpPr>
          <p:cNvPr id="16" name="Text 13"/>
          <p:cNvSpPr/>
          <p:nvPr/>
        </p:nvSpPr>
        <p:spPr>
          <a:xfrm>
            <a:off x="457200" y="1263700"/>
            <a:ext cx="2667000" cy="1588740"/>
          </a:xfrm>
          <a:prstGeom prst="roundRect">
            <a:avLst>
              <a:gd name="adj" fmla="val 543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10195" y="1401366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02" y="1477872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10245" y="1401366"/>
            <a:ext cx="21570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9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Speed</a:t>
            </a:r>
            <a:endParaRPr lang="en-US" sz="960" dirty="0"/>
          </a:p>
        </p:txBody>
      </p:sp>
      <p:sp>
        <p:nvSpPr>
          <p:cNvPr id="20" name="Text 16"/>
          <p:cNvSpPr/>
          <p:nvPr/>
        </p:nvSpPr>
        <p:spPr>
          <a:xfrm>
            <a:off x="1010245" y="1569095"/>
            <a:ext cx="2000179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took days now take hours with spec-guided generation.</a:t>
            </a:r>
            <a:endParaRPr lang="en-US" sz="790" dirty="0"/>
          </a:p>
        </p:txBody>
      </p:sp>
      <p:sp>
        <p:nvSpPr>
          <p:cNvPr id="21" name="Text 17"/>
          <p:cNvSpPr/>
          <p:nvPr/>
        </p:nvSpPr>
        <p:spPr>
          <a:xfrm>
            <a:off x="3238500" y="1263700"/>
            <a:ext cx="2667000" cy="1588740"/>
          </a:xfrm>
          <a:prstGeom prst="roundRect">
            <a:avLst>
              <a:gd name="adj" fmla="val 543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391495" y="1401366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8002" y="1477872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91545" y="1401366"/>
            <a:ext cx="21570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9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🎯 Precision</a:t>
            </a:r>
            <a:endParaRPr lang="en-US" sz="960" dirty="0"/>
          </a:p>
        </p:txBody>
      </p:sp>
      <p:sp>
        <p:nvSpPr>
          <p:cNvPr id="25" name="Text 20"/>
          <p:cNvSpPr/>
          <p:nvPr/>
        </p:nvSpPr>
        <p:spPr>
          <a:xfrm>
            <a:off x="3791545" y="1569095"/>
            <a:ext cx="2000179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stays on-spec: no hallucinated patterns or rogue architecture.</a:t>
            </a:r>
            <a:endParaRPr lang="en-US" sz="790" dirty="0"/>
          </a:p>
        </p:txBody>
      </p:sp>
      <p:sp>
        <p:nvSpPr>
          <p:cNvPr id="26" name="Text 21"/>
          <p:cNvSpPr/>
          <p:nvPr/>
        </p:nvSpPr>
        <p:spPr>
          <a:xfrm>
            <a:off x="6019800" y="1263700"/>
            <a:ext cx="2667000" cy="1588740"/>
          </a:xfrm>
          <a:prstGeom prst="roundRect">
            <a:avLst>
              <a:gd name="adj" fmla="val 543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172795" y="1401366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9302" y="1477872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72845" y="1401366"/>
            <a:ext cx="21570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9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🔁 Repeatability</a:t>
            </a:r>
            <a:endParaRPr lang="en-US" sz="960" dirty="0"/>
          </a:p>
        </p:txBody>
      </p:sp>
      <p:sp>
        <p:nvSpPr>
          <p:cNvPr id="30" name="Text 24"/>
          <p:cNvSpPr/>
          <p:nvPr/>
        </p:nvSpPr>
        <p:spPr>
          <a:xfrm>
            <a:off x="6572845" y="1569095"/>
            <a:ext cx="2000179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member runs the same spec and gets consistent results.</a:t>
            </a:r>
            <a:endParaRPr lang="en-US" sz="790" dirty="0"/>
          </a:p>
        </p:txBody>
      </p:sp>
      <p:sp>
        <p:nvSpPr>
          <p:cNvPr id="31" name="Text 25"/>
          <p:cNvSpPr/>
          <p:nvPr/>
        </p:nvSpPr>
        <p:spPr>
          <a:xfrm>
            <a:off x="457200" y="2966740"/>
            <a:ext cx="2667000" cy="1588889"/>
          </a:xfrm>
          <a:prstGeom prst="roundRect">
            <a:avLst>
              <a:gd name="adj" fmla="val 5435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10195" y="3104406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702" y="3180912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10245" y="3104406"/>
            <a:ext cx="21570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9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📚 Living Documentation</a:t>
            </a:r>
            <a:endParaRPr lang="en-US" sz="960" dirty="0"/>
          </a:p>
        </p:txBody>
      </p:sp>
      <p:sp>
        <p:nvSpPr>
          <p:cNvPr id="35" name="Text 28"/>
          <p:cNvSpPr/>
          <p:nvPr/>
        </p:nvSpPr>
        <p:spPr>
          <a:xfrm>
            <a:off x="1010245" y="3272135"/>
            <a:ext cx="2000179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are always current; no stale README syndrome.</a:t>
            </a:r>
            <a:endParaRPr lang="en-US" sz="790" dirty="0"/>
          </a:p>
        </p:txBody>
      </p:sp>
      <p:sp>
        <p:nvSpPr>
          <p:cNvPr id="36" name="Text 29"/>
          <p:cNvSpPr/>
          <p:nvPr/>
        </p:nvSpPr>
        <p:spPr>
          <a:xfrm>
            <a:off x="3238500" y="2966740"/>
            <a:ext cx="2667000" cy="1588889"/>
          </a:xfrm>
          <a:prstGeom prst="roundRect">
            <a:avLst>
              <a:gd name="adj" fmla="val 5435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3391495" y="3104406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8002" y="3180912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791545" y="3104406"/>
            <a:ext cx="21570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9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🤝 Onboarding</a:t>
            </a:r>
            <a:endParaRPr lang="en-US" sz="960" dirty="0"/>
          </a:p>
        </p:txBody>
      </p:sp>
      <p:sp>
        <p:nvSpPr>
          <p:cNvPr id="40" name="Text 32"/>
          <p:cNvSpPr/>
          <p:nvPr/>
        </p:nvSpPr>
        <p:spPr>
          <a:xfrm>
            <a:off x="3791545" y="3272135"/>
            <a:ext cx="2000179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devs read the spec files to understand the system in minutes.</a:t>
            </a:r>
            <a:endParaRPr lang="en-US" sz="790" dirty="0"/>
          </a:p>
        </p:txBody>
      </p:sp>
      <p:sp>
        <p:nvSpPr>
          <p:cNvPr id="41" name="Text 33"/>
          <p:cNvSpPr/>
          <p:nvPr/>
        </p:nvSpPr>
        <p:spPr>
          <a:xfrm>
            <a:off x="6019800" y="2966740"/>
            <a:ext cx="2667000" cy="1588889"/>
          </a:xfrm>
          <a:prstGeom prst="roundRect">
            <a:avLst>
              <a:gd name="adj" fmla="val 5435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6172795" y="3104406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9302" y="3180912"/>
            <a:ext cx="132588" cy="1325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572845" y="3104406"/>
            <a:ext cx="21570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9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🔒 Guardrails</a:t>
            </a:r>
            <a:endParaRPr lang="en-US" sz="960" dirty="0"/>
          </a:p>
        </p:txBody>
      </p:sp>
      <p:sp>
        <p:nvSpPr>
          <p:cNvPr id="45" name="Text 36"/>
          <p:cNvSpPr/>
          <p:nvPr/>
        </p:nvSpPr>
        <p:spPr>
          <a:xfrm>
            <a:off x="6572845" y="3272135"/>
            <a:ext cx="2000179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rules enforced by context, not code review luck.</a:t>
            </a:r>
            <a:endParaRPr lang="en-US" sz="790" dirty="0"/>
          </a:p>
        </p:txBody>
      </p:sp>
      <p:sp>
        <p:nvSpPr>
          <p:cNvPr id="46" name="Text 37"/>
          <p:cNvSpPr/>
          <p:nvPr/>
        </p:nvSpPr>
        <p:spPr>
          <a:xfrm>
            <a:off x="457200" y="4759970"/>
            <a:ext cx="5848052" cy="759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100000">
                <a:srgbClr val="58A6FF">
                  <a:alpha val="8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6376243" y="4699099"/>
            <a:ext cx="199138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PROMPTING. START SPECCING.</a:t>
            </a:r>
            <a:endParaRPr lang="en-US" sz="680" dirty="0"/>
          </a:p>
        </p:txBody>
      </p:sp>
      <p:sp>
        <p:nvSpPr>
          <p:cNvPr id="48" name="Text 39"/>
          <p:cNvSpPr/>
          <p:nvPr/>
        </p:nvSpPr>
        <p:spPr>
          <a:xfrm>
            <a:off x="8257580" y="4759970"/>
            <a:ext cx="429220" cy="7590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1522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1309" y="1025575"/>
            <a:ext cx="3267666" cy="13841"/>
          </a:xfrm>
          <a:custGeom>
            <a:avLst/>
            <a:gdLst/>
            <a:ahLst/>
            <a:cxnLst/>
            <a:rect l="l" t="t" r="r" b="b"/>
            <a:pathLst>
              <a:path w="3267666" h="13841">
                <a:moveTo>
                  <a:pt x="71120" y="0"/>
                </a:moveTo>
                <a:lnTo>
                  <a:pt x="3196546" y="0"/>
                </a:lnTo>
                <a:lnTo>
                  <a:pt x="3196546" y="0"/>
                </a:lnTo>
                <a:lnTo>
                  <a:pt x="3210420" y="1367"/>
                </a:lnTo>
                <a:lnTo>
                  <a:pt x="3223762" y="5414"/>
                </a:lnTo>
                <a:lnTo>
                  <a:pt x="3236058" y="11986"/>
                </a:lnTo>
                <a:lnTo>
                  <a:pt x="3246835" y="13841"/>
                </a:lnTo>
                <a:lnTo>
                  <a:pt x="3255680" y="13841"/>
                </a:lnTo>
                <a:lnTo>
                  <a:pt x="3262252" y="13841"/>
                </a:lnTo>
                <a:lnTo>
                  <a:pt x="3266299" y="13841"/>
                </a:lnTo>
                <a:lnTo>
                  <a:pt x="3267666" y="13841"/>
                </a:lnTo>
                <a:lnTo>
                  <a:pt x="3267666" y="13841"/>
                </a:lnTo>
                <a:lnTo>
                  <a:pt x="0" y="13841"/>
                </a:lnTo>
                <a:lnTo>
                  <a:pt x="0" y="71120"/>
                </a:lnTo>
                <a:lnTo>
                  <a:pt x="71120" y="0"/>
                </a:ln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13841"/>
                </a:lnTo>
                <a:lnTo>
                  <a:pt x="11986" y="13841"/>
                </a:lnTo>
                <a:lnTo>
                  <a:pt x="5414" y="13841"/>
                </a:lnTo>
                <a:lnTo>
                  <a:pt x="1367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58A6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5020" y="2023021"/>
            <a:ext cx="3267666" cy="13841"/>
          </a:xfrm>
          <a:custGeom>
            <a:avLst/>
            <a:gdLst/>
            <a:ahLst/>
            <a:cxnLst/>
            <a:rect l="l" t="t" r="r" b="b"/>
            <a:pathLst>
              <a:path w="3267666" h="13841">
                <a:moveTo>
                  <a:pt x="71120" y="0"/>
                </a:moveTo>
                <a:lnTo>
                  <a:pt x="3196546" y="0"/>
                </a:lnTo>
                <a:lnTo>
                  <a:pt x="3196546" y="0"/>
                </a:lnTo>
                <a:lnTo>
                  <a:pt x="3210420" y="1367"/>
                </a:lnTo>
                <a:lnTo>
                  <a:pt x="3223762" y="5414"/>
                </a:lnTo>
                <a:lnTo>
                  <a:pt x="3236058" y="11986"/>
                </a:lnTo>
                <a:lnTo>
                  <a:pt x="3246835" y="13841"/>
                </a:lnTo>
                <a:lnTo>
                  <a:pt x="3255680" y="13841"/>
                </a:lnTo>
                <a:lnTo>
                  <a:pt x="3262252" y="13841"/>
                </a:lnTo>
                <a:lnTo>
                  <a:pt x="3266299" y="13841"/>
                </a:lnTo>
                <a:lnTo>
                  <a:pt x="3267666" y="13841"/>
                </a:lnTo>
                <a:lnTo>
                  <a:pt x="3267666" y="13841"/>
                </a:lnTo>
                <a:lnTo>
                  <a:pt x="0" y="13841"/>
                </a:lnTo>
                <a:lnTo>
                  <a:pt x="0" y="71120"/>
                </a:lnTo>
                <a:lnTo>
                  <a:pt x="71120" y="0"/>
                </a:ln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13841"/>
                </a:lnTo>
                <a:lnTo>
                  <a:pt x="11986" y="13841"/>
                </a:lnTo>
                <a:lnTo>
                  <a:pt x="5414" y="13841"/>
                </a:lnTo>
                <a:lnTo>
                  <a:pt x="1367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58A6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1309" y="2880420"/>
            <a:ext cx="3267666" cy="13841"/>
          </a:xfrm>
          <a:custGeom>
            <a:avLst/>
            <a:gdLst/>
            <a:ahLst/>
            <a:cxnLst/>
            <a:rect l="l" t="t" r="r" b="b"/>
            <a:pathLst>
              <a:path w="3267666" h="13841">
                <a:moveTo>
                  <a:pt x="71120" y="0"/>
                </a:moveTo>
                <a:lnTo>
                  <a:pt x="3196546" y="0"/>
                </a:lnTo>
                <a:lnTo>
                  <a:pt x="3196546" y="0"/>
                </a:lnTo>
                <a:lnTo>
                  <a:pt x="3210420" y="1367"/>
                </a:lnTo>
                <a:lnTo>
                  <a:pt x="3223762" y="5414"/>
                </a:lnTo>
                <a:lnTo>
                  <a:pt x="3236058" y="11986"/>
                </a:lnTo>
                <a:lnTo>
                  <a:pt x="3246835" y="13841"/>
                </a:lnTo>
                <a:lnTo>
                  <a:pt x="3255680" y="13841"/>
                </a:lnTo>
                <a:lnTo>
                  <a:pt x="3262252" y="13841"/>
                </a:lnTo>
                <a:lnTo>
                  <a:pt x="3266299" y="13841"/>
                </a:lnTo>
                <a:lnTo>
                  <a:pt x="3267666" y="13841"/>
                </a:lnTo>
                <a:lnTo>
                  <a:pt x="3267666" y="13841"/>
                </a:lnTo>
                <a:lnTo>
                  <a:pt x="0" y="13841"/>
                </a:lnTo>
                <a:lnTo>
                  <a:pt x="0" y="71120"/>
                </a:lnTo>
                <a:lnTo>
                  <a:pt x="71120" y="0"/>
                </a:ln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13841"/>
                </a:lnTo>
                <a:lnTo>
                  <a:pt x="11986" y="13841"/>
                </a:lnTo>
                <a:lnTo>
                  <a:pt x="5414" y="13841"/>
                </a:lnTo>
                <a:lnTo>
                  <a:pt x="1367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58A6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5020" y="3737818"/>
            <a:ext cx="3267666" cy="13841"/>
          </a:xfrm>
          <a:custGeom>
            <a:avLst/>
            <a:gdLst/>
            <a:ahLst/>
            <a:cxnLst/>
            <a:rect l="l" t="t" r="r" b="b"/>
            <a:pathLst>
              <a:path w="3267666" h="13841">
                <a:moveTo>
                  <a:pt x="71120" y="0"/>
                </a:moveTo>
                <a:lnTo>
                  <a:pt x="3196546" y="0"/>
                </a:lnTo>
                <a:lnTo>
                  <a:pt x="3196546" y="0"/>
                </a:lnTo>
                <a:lnTo>
                  <a:pt x="3210420" y="1367"/>
                </a:lnTo>
                <a:lnTo>
                  <a:pt x="3223762" y="5414"/>
                </a:lnTo>
                <a:lnTo>
                  <a:pt x="3236058" y="11986"/>
                </a:lnTo>
                <a:lnTo>
                  <a:pt x="3246835" y="13841"/>
                </a:lnTo>
                <a:lnTo>
                  <a:pt x="3255680" y="13841"/>
                </a:lnTo>
                <a:lnTo>
                  <a:pt x="3262252" y="13841"/>
                </a:lnTo>
                <a:lnTo>
                  <a:pt x="3266299" y="13841"/>
                </a:lnTo>
                <a:lnTo>
                  <a:pt x="3267666" y="13841"/>
                </a:lnTo>
                <a:lnTo>
                  <a:pt x="3267666" y="13841"/>
                </a:lnTo>
                <a:lnTo>
                  <a:pt x="0" y="13841"/>
                </a:lnTo>
                <a:lnTo>
                  <a:pt x="0" y="71120"/>
                </a:lnTo>
                <a:lnTo>
                  <a:pt x="71120" y="0"/>
                </a:ln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13841"/>
                </a:lnTo>
                <a:lnTo>
                  <a:pt x="11986" y="13841"/>
                </a:lnTo>
                <a:lnTo>
                  <a:pt x="5414" y="13841"/>
                </a:lnTo>
                <a:lnTo>
                  <a:pt x="1367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58A6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1309" y="4595217"/>
            <a:ext cx="3267666" cy="13841"/>
          </a:xfrm>
          <a:custGeom>
            <a:avLst/>
            <a:gdLst/>
            <a:ahLst/>
            <a:cxnLst/>
            <a:rect l="l" t="t" r="r" b="b"/>
            <a:pathLst>
              <a:path w="3267666" h="13841">
                <a:moveTo>
                  <a:pt x="71120" y="0"/>
                </a:moveTo>
                <a:lnTo>
                  <a:pt x="3196546" y="0"/>
                </a:lnTo>
                <a:lnTo>
                  <a:pt x="3196546" y="0"/>
                </a:lnTo>
                <a:lnTo>
                  <a:pt x="3210420" y="1367"/>
                </a:lnTo>
                <a:lnTo>
                  <a:pt x="3223762" y="5414"/>
                </a:lnTo>
                <a:lnTo>
                  <a:pt x="3236058" y="11986"/>
                </a:lnTo>
                <a:lnTo>
                  <a:pt x="3246835" y="13841"/>
                </a:lnTo>
                <a:lnTo>
                  <a:pt x="3255680" y="13841"/>
                </a:lnTo>
                <a:lnTo>
                  <a:pt x="3262252" y="13841"/>
                </a:lnTo>
                <a:lnTo>
                  <a:pt x="3266299" y="13841"/>
                </a:lnTo>
                <a:lnTo>
                  <a:pt x="3267666" y="13841"/>
                </a:lnTo>
                <a:lnTo>
                  <a:pt x="3267666" y="13841"/>
                </a:lnTo>
                <a:lnTo>
                  <a:pt x="0" y="13841"/>
                </a:lnTo>
                <a:lnTo>
                  <a:pt x="0" y="71120"/>
                </a:lnTo>
                <a:lnTo>
                  <a:pt x="71120" y="0"/>
                </a:ln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13841"/>
                </a:lnTo>
                <a:lnTo>
                  <a:pt x="11986" y="13841"/>
                </a:lnTo>
                <a:lnTo>
                  <a:pt x="5414" y="13841"/>
                </a:lnTo>
                <a:lnTo>
                  <a:pt x="1367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58A6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99591"/>
            <a:ext cx="342900" cy="29170"/>
          </a:xfrm>
          <a:prstGeom prst="roundRect">
            <a:avLst>
              <a:gd name="adj" fmla="val 47892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71921"/>
            <a:ext cx="3421880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Implementation Journey</a:t>
            </a:r>
            <a:endParaRPr lang="en-US" sz="2030" dirty="0"/>
          </a:p>
        </p:txBody>
      </p:sp>
      <p:sp>
        <p:nvSpPr>
          <p:cNvPr id="12" name="Text 10"/>
          <p:cNvSpPr/>
          <p:nvPr/>
        </p:nvSpPr>
        <p:spPr>
          <a:xfrm>
            <a:off x="457200" y="684609"/>
            <a:ext cx="35178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30"/>
              </a:spcBef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Michael went from frustration to a fully spec-driven workflow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7603629" y="299591"/>
            <a:ext cx="1083171" cy="262830"/>
          </a:xfrm>
          <a:prstGeom prst="roundRect">
            <a:avLst>
              <a:gd name="adj" fmla="val 21744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4022" y="364712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70329" y="366266"/>
            <a:ext cx="7619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MILESTONES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4565079" y="1016050"/>
            <a:ext cx="13841" cy="41274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58A6FF">
                  <a:alpha val="35000"/>
                </a:srgbClr>
              </a:gs>
              <a:gs pos="92000">
                <a:srgbClr val="58A6FF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41784" y="1016050"/>
            <a:ext cx="3286720" cy="997446"/>
          </a:xfrm>
          <a:prstGeom prst="roundRect">
            <a:avLst>
              <a:gd name="adj" fmla="val 7130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79450" y="1118146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5802" y="1144497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79450" y="1325017"/>
            <a:ext cx="331252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convention-ignoring output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79450" y="1491258"/>
            <a:ext cx="3071616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kept generating inconsistent patterns and ignoring project conventions — every feature looked like it came from a different codebase.</a:t>
            </a:r>
            <a:endParaRPr lang="en-US" sz="760" dirty="0"/>
          </a:p>
        </p:txBody>
      </p:sp>
      <p:sp>
        <p:nvSpPr>
          <p:cNvPr id="22" name="Text 18"/>
          <p:cNvSpPr/>
          <p:nvPr/>
        </p:nvSpPr>
        <p:spPr>
          <a:xfrm>
            <a:off x="4443115" y="1385888"/>
            <a:ext cx="257770" cy="25777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  <a:effectLst>
            <a:outerShdw blurRad="100330" dist="50800" dir="16200000" algn="bl" rotWithShape="0">
              <a:srgbClr val="58A6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532709" y="1330672"/>
            <a:ext cx="8643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10" dirty="0"/>
          </a:p>
        </p:txBody>
      </p:sp>
      <p:sp>
        <p:nvSpPr>
          <p:cNvPr id="24" name="Text 20"/>
          <p:cNvSpPr/>
          <p:nvPr/>
        </p:nvSpPr>
        <p:spPr>
          <a:xfrm>
            <a:off x="4521845" y="1464618"/>
            <a:ext cx="100310" cy="10031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443115" y="2313236"/>
            <a:ext cx="257770" cy="25777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  <a:effectLst>
            <a:outerShdw blurRad="100330" dist="50800" dir="16200000" algn="bl" rotWithShape="0">
              <a:srgbClr val="58A6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32709" y="2258020"/>
            <a:ext cx="8643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10" dirty="0"/>
          </a:p>
        </p:txBody>
      </p:sp>
      <p:sp>
        <p:nvSpPr>
          <p:cNvPr id="27" name="Text 23"/>
          <p:cNvSpPr/>
          <p:nvPr/>
        </p:nvSpPr>
        <p:spPr>
          <a:xfrm>
            <a:off x="4521845" y="2391966"/>
            <a:ext cx="100310" cy="10031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915495" y="2013496"/>
            <a:ext cx="3286720" cy="857399"/>
          </a:xfrm>
          <a:prstGeom prst="roundRect">
            <a:avLst>
              <a:gd name="adj" fmla="val 8295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053161" y="2115592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9513" y="2141943"/>
            <a:ext cx="132588" cy="132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053161" y="2322463"/>
            <a:ext cx="331252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can live in the repo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53161" y="2488704"/>
            <a:ext cx="3071616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reads files in your repo. What if the architecture itself lived in those files — always in scope, always authoritative?</a:t>
            </a:r>
            <a:endParaRPr lang="en-US" sz="760" dirty="0"/>
          </a:p>
        </p:txBody>
      </p:sp>
      <p:sp>
        <p:nvSpPr>
          <p:cNvPr id="33" name="Text 28"/>
          <p:cNvSpPr/>
          <p:nvPr/>
        </p:nvSpPr>
        <p:spPr>
          <a:xfrm>
            <a:off x="941784" y="2870895"/>
            <a:ext cx="3286720" cy="857399"/>
          </a:xfrm>
          <a:prstGeom prst="roundRect">
            <a:avLst>
              <a:gd name="adj" fmla="val 8295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1079450" y="2972991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802" y="2999342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79450" y="3179862"/>
            <a:ext cx="331252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</a:t>
            </a:r>
            <a:r>
              <a:rPr lang="en-US" sz="730" b="1" dirty="0">
                <a:solidFill>
                  <a:srgbClr val="58A6FF"/>
                </a:solidFill>
                <a:highlight>
                  <a:srgbClr val="58A6FF">
                    <a:alpha val="10000"/>
                  </a:srgbClr>
                </a:highlight>
                <a:latin typeface="Consolas" pitchFamily="34" charset="0"/>
                <a:ea typeface="Calibri" pitchFamily="34" charset="-122"/>
                <a:cs typeface="Calibri" pitchFamily="34" charset="-120"/>
              </a:rPr>
              <a:t>specs</a:t>
            </a:r>
            <a:r>
              <a:rPr lang="en-US" sz="730" b="1" dirty="0">
                <a:solidFill>
                  <a:srgbClr val="58A6FF"/>
                </a:solidFill>
                <a:highlight>
                  <a:srgbClr val="58A6FF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/architecture.md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79450" y="3346103"/>
            <a:ext cx="3071616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the app's structure, patterns, and non-negotiable rules in a single versioned markdown file the agent would always read first.</a:t>
            </a:r>
            <a:endParaRPr lang="en-US" sz="760" dirty="0"/>
          </a:p>
        </p:txBody>
      </p:sp>
      <p:sp>
        <p:nvSpPr>
          <p:cNvPr id="38" name="Text 32"/>
          <p:cNvSpPr/>
          <p:nvPr/>
        </p:nvSpPr>
        <p:spPr>
          <a:xfrm>
            <a:off x="4443115" y="3170634"/>
            <a:ext cx="257770" cy="25777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  <a:effectLst>
            <a:outerShdw blurRad="100330" dist="50800" dir="16200000" algn="bl" rotWithShape="0">
              <a:srgbClr val="58A6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532709" y="3115419"/>
            <a:ext cx="8643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10" dirty="0"/>
          </a:p>
        </p:txBody>
      </p:sp>
      <p:sp>
        <p:nvSpPr>
          <p:cNvPr id="40" name="Text 34"/>
          <p:cNvSpPr/>
          <p:nvPr/>
        </p:nvSpPr>
        <p:spPr>
          <a:xfrm>
            <a:off x="4521845" y="3249364"/>
            <a:ext cx="100310" cy="10031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443115" y="4028033"/>
            <a:ext cx="257770" cy="25777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  <a:effectLst>
            <a:outerShdw blurRad="100330" dist="50800" dir="16200000" algn="bl" rotWithShape="0">
              <a:srgbClr val="58A6FF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532709" y="3972818"/>
            <a:ext cx="8643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10" dirty="0"/>
          </a:p>
        </p:txBody>
      </p:sp>
      <p:sp>
        <p:nvSpPr>
          <p:cNvPr id="43" name="Text 37"/>
          <p:cNvSpPr/>
          <p:nvPr/>
        </p:nvSpPr>
        <p:spPr>
          <a:xfrm>
            <a:off x="4521845" y="4106763"/>
            <a:ext cx="100310" cy="10031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915495" y="3728293"/>
            <a:ext cx="3286720" cy="857399"/>
          </a:xfrm>
          <a:prstGeom prst="roundRect">
            <a:avLst>
              <a:gd name="adj" fmla="val 8295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5053161" y="3830389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9513" y="3856741"/>
            <a:ext cx="132588" cy="1325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053161" y="4037261"/>
            <a:ext cx="331252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730" b="1" dirty="0">
                <a:solidFill>
                  <a:srgbClr val="58A6FF"/>
                </a:solidFill>
                <a:highlight>
                  <a:srgbClr val="58A6FF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.csproj</a:t>
            </a: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exist first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5053161" y="4203502"/>
            <a:ext cx="3071616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a </a:t>
            </a:r>
            <a:r>
              <a:rPr lang="en-US" sz="680" dirty="0">
                <a:solidFill>
                  <a:srgbClr val="58A6FF"/>
                </a:solidFill>
                <a:highlight>
                  <a:srgbClr val="58A6FF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.csproj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must exist before the agent can scaffold into a project correctly — a critical prerequisite step.</a:t>
            </a:r>
            <a:endParaRPr lang="en-US" sz="760" dirty="0"/>
          </a:p>
        </p:txBody>
      </p:sp>
      <p:sp>
        <p:nvSpPr>
          <p:cNvPr id="49" name="Text 42"/>
          <p:cNvSpPr/>
          <p:nvPr/>
        </p:nvSpPr>
        <p:spPr>
          <a:xfrm>
            <a:off x="964625" y="4386356"/>
            <a:ext cx="3286720" cy="557808"/>
          </a:xfrm>
          <a:prstGeom prst="roundRect">
            <a:avLst>
              <a:gd name="adj" fmla="val 12750"/>
            </a:avLst>
          </a:prstGeom>
          <a:gradFill rotWithShape="1">
            <a:gsLst>
              <a:gs pos="0">
                <a:srgbClr val="161B22"/>
              </a:gs>
              <a:gs pos="100000">
                <a:srgbClr val="1A2436"/>
              </a:gs>
            </a:gsLst>
            <a:lin ang="2700000" scaled="1"/>
          </a:gradFill>
          <a:ln w="9525">
            <a:solidFill>
              <a:srgbClr val="58A6FF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1079450" y="4453222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58A6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450" y="4468251"/>
            <a:ext cx="132588" cy="13258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1326863" y="4483299"/>
            <a:ext cx="331252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files + prompt + agent = ✓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1105802" y="4659504"/>
            <a:ext cx="3071616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spec files + reusable prompt + agent mode = predictable, high-quality feature generation. The workflow that stuck.</a:t>
            </a:r>
            <a:endParaRPr lang="en-US" sz="760" dirty="0"/>
          </a:p>
        </p:txBody>
      </p:sp>
      <p:sp>
        <p:nvSpPr>
          <p:cNvPr id="54" name="Text 46"/>
          <p:cNvSpPr/>
          <p:nvPr/>
        </p:nvSpPr>
        <p:spPr>
          <a:xfrm>
            <a:off x="4443115" y="4885432"/>
            <a:ext cx="257770" cy="25777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  <a:effectLst>
            <a:outerShdw blurRad="143510" dist="50800" dir="16200000" algn="bl" rotWithShape="0">
              <a:srgbClr val="58A6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4532709" y="4830217"/>
            <a:ext cx="8643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10" dirty="0"/>
          </a:p>
        </p:txBody>
      </p:sp>
      <p:sp>
        <p:nvSpPr>
          <p:cNvPr id="56" name="Text 48"/>
          <p:cNvSpPr/>
          <p:nvPr/>
        </p:nvSpPr>
        <p:spPr>
          <a:xfrm>
            <a:off x="4521845" y="4964162"/>
            <a:ext cx="100310" cy="100310"/>
          </a:xfrm>
          <a:prstGeom prst="ellipse">
            <a:avLst/>
          </a:prstGeom>
          <a:solidFill>
            <a:srgbClr val="58A6FF"/>
          </a:solidFill>
          <a:ln/>
          <a:effectLst>
            <a:outerShdw blurRad="57150" dist="50800" dir="16200000" algn="bl" rotWithShape="0">
              <a:srgbClr val="58A6FF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589508" y="5594598"/>
            <a:ext cx="143312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built on the last —</a:t>
            </a:r>
            <a:endParaRPr lang="en-US" sz="680" dirty="0"/>
          </a:p>
        </p:txBody>
      </p:sp>
      <p:sp>
        <p:nvSpPr>
          <p:cNvPr id="58" name="Text 50"/>
          <p:cNvSpPr/>
          <p:nvPr/>
        </p:nvSpPr>
        <p:spPr>
          <a:xfrm>
            <a:off x="1949500" y="5594598"/>
            <a:ext cx="166444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one-off fix to repeatable system</a:t>
            </a:r>
            <a:endParaRPr lang="en-US" sz="680" dirty="0"/>
          </a:p>
        </p:txBody>
      </p:sp>
      <p:sp>
        <p:nvSpPr>
          <p:cNvPr id="59" name="Text 51"/>
          <p:cNvSpPr/>
          <p:nvPr/>
        </p:nvSpPr>
        <p:spPr>
          <a:xfrm>
            <a:off x="7034659" y="5600254"/>
            <a:ext cx="181735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Spec-Driven Development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58A6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344091"/>
            <a:ext cx="29170" cy="38606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58A6FF"/>
              </a:gs>
              <a:gs pos="100000">
                <a:srgbClr val="58A6FF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3520" y="314920"/>
            <a:ext cx="271760" cy="271760"/>
          </a:xfrm>
          <a:prstGeom prst="roundRect">
            <a:avLst>
              <a:gd name="adj" fmla="val 23834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032" y="38443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1601" y="325041"/>
            <a:ext cx="4167470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kern="0" spc="-18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 First Step: </a:t>
            </a:r>
            <a:r>
              <a:rPr lang="en-US" sz="1800" b="1" kern="0" spc="-18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Scaffold the .csproj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3520" y="629841"/>
            <a:ext cx="4983525" cy="170557"/>
          </a:xfrm>
          <a:prstGeom prst="rect">
            <a:avLst/>
          </a:prstGeom>
          <a:noFill/>
          <a:ln/>
        </p:spPr>
        <p:txBody>
          <a:bodyPr wrap="none" lIns="35687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cannot create a project from nothing — you must provide the shell.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400050" y="1015008"/>
            <a:ext cx="1934021" cy="3195191"/>
          </a:xfrm>
          <a:prstGeom prst="roundRect">
            <a:avLst>
              <a:gd name="adj" fmla="val 446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0050" y="1015008"/>
            <a:ext cx="19050" cy="3195191"/>
          </a:xfrm>
          <a:custGeom>
            <a:avLst/>
            <a:gdLst/>
            <a:ahLst/>
            <a:cxnLst/>
            <a:rect l="l" t="t" r="r" b="b"/>
            <a:pathLst>
              <a:path w="19050" h="3195191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3162937"/>
                </a:lnTo>
                <a:lnTo>
                  <a:pt x="16669" y="3159833"/>
                </a:lnTo>
                <a:lnTo>
                  <a:pt x="14288" y="3156408"/>
                </a:lnTo>
                <a:lnTo>
                  <a:pt x="11906" y="3152588"/>
                </a:lnTo>
                <a:lnTo>
                  <a:pt x="9525" y="3148257"/>
                </a:lnTo>
                <a:lnTo>
                  <a:pt x="7144" y="3143223"/>
                </a:lnTo>
                <a:lnTo>
                  <a:pt x="4763" y="3137113"/>
                </a:lnTo>
                <a:lnTo>
                  <a:pt x="2381" y="3128971"/>
                </a:lnTo>
                <a:lnTo>
                  <a:pt x="0" y="3108831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7241" y="1152674"/>
            <a:ext cx="257770" cy="283547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554831" y="1481435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83" y="1536287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9311" y="1152674"/>
            <a:ext cx="138794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dotnet new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919311" y="1327993"/>
            <a:ext cx="1287000" cy="567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CLI command for your target template to create the </a:t>
            </a: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.csproj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initial folder structure.</a:t>
            </a:r>
            <a:endParaRPr lang="en-US" sz="760" dirty="0"/>
          </a:p>
        </p:txBody>
      </p:sp>
      <p:sp>
        <p:nvSpPr>
          <p:cNvPr id="17" name="Text 13"/>
          <p:cNvSpPr/>
          <p:nvPr/>
        </p:nvSpPr>
        <p:spPr>
          <a:xfrm>
            <a:off x="919311" y="1954857"/>
            <a:ext cx="1261765" cy="334485"/>
          </a:xfrm>
          <a:prstGeom prst="roundRect">
            <a:avLst>
              <a:gd name="adj" fmla="val 8733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new webapi -n MyProject</a:t>
            </a:r>
            <a:endParaRPr lang="en-US" sz="73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63242" y="2501652"/>
            <a:ext cx="150465" cy="1076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42877" y="1015008"/>
            <a:ext cx="1924645" cy="3195191"/>
          </a:xfrm>
          <a:prstGeom prst="roundRect">
            <a:avLst>
              <a:gd name="adj" fmla="val 4487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2680543" y="1152674"/>
            <a:ext cx="257770" cy="283547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960" dirty="0"/>
          </a:p>
        </p:txBody>
      </p:sp>
      <p:sp>
        <p:nvSpPr>
          <p:cNvPr id="21" name="Text 16"/>
          <p:cNvSpPr/>
          <p:nvPr/>
        </p:nvSpPr>
        <p:spPr>
          <a:xfrm>
            <a:off x="2688134" y="1481435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2986" y="1536287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052614" y="1152674"/>
            <a:ext cx="138810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Commit the Shell</a:t>
            </a:r>
            <a:endParaRPr lang="en-US" sz="960" dirty="0"/>
          </a:p>
        </p:txBody>
      </p:sp>
      <p:sp>
        <p:nvSpPr>
          <p:cNvPr id="24" name="Text 18"/>
          <p:cNvSpPr/>
          <p:nvPr/>
        </p:nvSpPr>
        <p:spPr>
          <a:xfrm>
            <a:off x="3052614" y="1327993"/>
            <a:ext cx="1287152" cy="567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empty scaffolded project to git so the agent has a valid workspace to operate in.</a:t>
            </a:r>
            <a:endParaRPr lang="en-US" sz="760" dirty="0"/>
          </a:p>
        </p:txBody>
      </p:sp>
      <p:sp>
        <p:nvSpPr>
          <p:cNvPr id="25" name="Text 19"/>
          <p:cNvSpPr/>
          <p:nvPr/>
        </p:nvSpPr>
        <p:spPr>
          <a:xfrm>
            <a:off x="3052614" y="1925687"/>
            <a:ext cx="1261914" cy="334485"/>
          </a:xfrm>
          <a:prstGeom prst="roundRect">
            <a:avLst>
              <a:gd name="adj" fmla="val 8733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&amp;&amp; git push</a:t>
            </a:r>
            <a:endParaRPr lang="en-US" sz="73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6693" y="2501652"/>
            <a:ext cx="150465" cy="1076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6329" y="1015008"/>
            <a:ext cx="1924645" cy="3195191"/>
          </a:xfrm>
          <a:prstGeom prst="roundRect">
            <a:avLst>
              <a:gd name="adj" fmla="val 4487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813995" y="1152674"/>
            <a:ext cx="257770" cy="283547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960" dirty="0"/>
          </a:p>
        </p:txBody>
      </p:sp>
      <p:sp>
        <p:nvSpPr>
          <p:cNvPr id="29" name="Text 22"/>
          <p:cNvSpPr/>
          <p:nvPr/>
        </p:nvSpPr>
        <p:spPr>
          <a:xfrm>
            <a:off x="4821585" y="1481435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437" y="1536287"/>
            <a:ext cx="132588" cy="1325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86065" y="1152674"/>
            <a:ext cx="138810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Spec Files</a:t>
            </a:r>
            <a:endParaRPr lang="en-US" sz="960" dirty="0"/>
          </a:p>
        </p:txBody>
      </p:sp>
      <p:sp>
        <p:nvSpPr>
          <p:cNvPr id="32" name="Text 24"/>
          <p:cNvSpPr/>
          <p:nvPr/>
        </p:nvSpPr>
        <p:spPr>
          <a:xfrm>
            <a:off x="5186065" y="1327993"/>
            <a:ext cx="1287152" cy="567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spec files in the repo root so the agent can read them alongside the project structure.</a:t>
            </a:r>
            <a:endParaRPr lang="en-US" sz="760" dirty="0"/>
          </a:p>
        </p:txBody>
      </p:sp>
      <p:sp>
        <p:nvSpPr>
          <p:cNvPr id="33" name="Text 25"/>
          <p:cNvSpPr/>
          <p:nvPr/>
        </p:nvSpPr>
        <p:spPr>
          <a:xfrm>
            <a:off x="5186065" y="1925687"/>
            <a:ext cx="1200471" cy="185738"/>
          </a:xfrm>
          <a:prstGeom prst="roundRect">
            <a:avLst>
              <a:gd name="adj" fmla="val 15726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specs/architecture.md</a:t>
            </a:r>
            <a:endParaRPr lang="en-US" sz="73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0144" y="2501652"/>
            <a:ext cx="150465" cy="10760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09780" y="1015008"/>
            <a:ext cx="1934170" cy="3195191"/>
          </a:xfrm>
          <a:prstGeom prst="roundRect">
            <a:avLst>
              <a:gd name="adj" fmla="val 446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8724900" y="1015008"/>
            <a:ext cx="19050" cy="3195191"/>
          </a:xfrm>
          <a:custGeom>
            <a:avLst/>
            <a:gdLst/>
            <a:ahLst/>
            <a:cxnLst/>
            <a:rect l="l" t="t" r="r" b="b"/>
            <a:pathLst>
              <a:path w="19050" h="3195191">
                <a:moveTo>
                  <a:pt x="0" y="32254"/>
                </a:moveTo>
                <a:lnTo>
                  <a:pt x="2381" y="35358"/>
                </a:lnTo>
                <a:lnTo>
                  <a:pt x="4763" y="38783"/>
                </a:lnTo>
                <a:lnTo>
                  <a:pt x="7144" y="42603"/>
                </a:lnTo>
                <a:lnTo>
                  <a:pt x="9525" y="46934"/>
                </a:lnTo>
                <a:lnTo>
                  <a:pt x="11906" y="51968"/>
                </a:lnTo>
                <a:lnTo>
                  <a:pt x="14288" y="58078"/>
                </a:lnTo>
                <a:lnTo>
                  <a:pt x="16669" y="66220"/>
                </a:lnTo>
                <a:lnTo>
                  <a:pt x="19050" y="86360"/>
                </a:lnTo>
                <a:lnTo>
                  <a:pt x="19050" y="3108831"/>
                </a:lnTo>
                <a:lnTo>
                  <a:pt x="16669" y="3128971"/>
                </a:lnTo>
                <a:lnTo>
                  <a:pt x="14288" y="3137113"/>
                </a:lnTo>
                <a:lnTo>
                  <a:pt x="11906" y="3143223"/>
                </a:lnTo>
                <a:lnTo>
                  <a:pt x="9525" y="3148257"/>
                </a:lnTo>
                <a:lnTo>
                  <a:pt x="7144" y="3152588"/>
                </a:lnTo>
                <a:lnTo>
                  <a:pt x="4763" y="3156408"/>
                </a:lnTo>
                <a:lnTo>
                  <a:pt x="2381" y="3159833"/>
                </a:lnTo>
                <a:lnTo>
                  <a:pt x="0" y="3162937"/>
                </a:lnTo>
                <a:close/>
              </a:path>
            </a:pathLst>
          </a:custGeom>
          <a:solidFill>
            <a:srgbClr val="58A6FF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6947446" y="1152674"/>
            <a:ext cx="257770" cy="283547"/>
          </a:xfrm>
          <a:prstGeom prst="ellipse">
            <a:avLst/>
          </a:prstGeom>
          <a:solidFill>
            <a:srgbClr val="58A6FF">
              <a:alpha val="2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960" dirty="0"/>
          </a:p>
        </p:txBody>
      </p:sp>
      <p:sp>
        <p:nvSpPr>
          <p:cNvPr id="38" name="Text 29"/>
          <p:cNvSpPr/>
          <p:nvPr/>
        </p:nvSpPr>
        <p:spPr>
          <a:xfrm>
            <a:off x="6955036" y="1481435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58A6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09888" y="1536287"/>
            <a:ext cx="132588" cy="132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319516" y="1152674"/>
            <a:ext cx="138810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 Off to Agent</a:t>
            </a:r>
            <a:endParaRPr lang="en-US" sz="960" dirty="0"/>
          </a:p>
        </p:txBody>
      </p:sp>
      <p:sp>
        <p:nvSpPr>
          <p:cNvPr id="41" name="Text 31"/>
          <p:cNvSpPr/>
          <p:nvPr/>
        </p:nvSpPr>
        <p:spPr>
          <a:xfrm>
            <a:off x="7319516" y="1327993"/>
            <a:ext cx="1287152" cy="567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specs, understands the project type, and builds features correctly — every time.</a:t>
            </a:r>
            <a:endParaRPr lang="en-US" sz="76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87973" y="1925994"/>
            <a:ext cx="132588" cy="1325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432179" y="1925687"/>
            <a:ext cx="84736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generate</a:t>
            </a:r>
            <a:endParaRPr lang="en-US" sz="700" dirty="0"/>
          </a:p>
        </p:txBody>
      </p:sp>
      <p:sp>
        <p:nvSpPr>
          <p:cNvPr id="44" name="Text 33"/>
          <p:cNvSpPr/>
          <p:nvPr/>
        </p:nvSpPr>
        <p:spPr>
          <a:xfrm>
            <a:off x="400050" y="4395490"/>
            <a:ext cx="8343900" cy="490240"/>
          </a:xfrm>
          <a:prstGeom prst="roundRect">
            <a:avLst>
              <a:gd name="adj" fmla="val 14507"/>
            </a:avLst>
          </a:prstGeom>
          <a:solidFill>
            <a:srgbClr val="F59E0B">
              <a:alpha val="13000"/>
            </a:srgbClr>
          </a:solidFill>
          <a:ln w="9525">
            <a:solidFill>
              <a:srgbClr val="F59E0B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4"/>
          <p:cNvSpPr/>
          <p:nvPr/>
        </p:nvSpPr>
        <p:spPr>
          <a:xfrm>
            <a:off x="553045" y="451172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562" y="4574241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11126" y="4578570"/>
            <a:ext cx="5422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30" dirty="0"/>
          </a:p>
        </p:txBody>
      </p:sp>
      <p:sp>
        <p:nvSpPr>
          <p:cNvPr id="48" name="Text 36"/>
          <p:cNvSpPr/>
          <p:nvPr/>
        </p:nvSpPr>
        <p:spPr>
          <a:xfrm>
            <a:off x="1461195" y="4491335"/>
            <a:ext cx="7272355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this step causes the agent to generate malformed or mismatched project files — the .csproj must exist before the agent can scaffold correctly.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40494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-140494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05155" y="533360"/>
            <a:ext cx="1238845" cy="1286466"/>
          </a:xfrm>
          <a:prstGeom prst="rect">
            <a:avLst/>
          </a:prstGeom>
          <a:gradFill rotWithShape="1">
            <a:gsLst>
              <a:gs pos="0">
                <a:srgbClr val="58A6FF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66299" y="4239816"/>
            <a:ext cx="996105" cy="176956"/>
          </a:xfrm>
          <a:custGeom>
            <a:avLst/>
            <a:gdLst/>
            <a:ahLst/>
            <a:cxnLst/>
            <a:rect l="l" t="t" r="r" b="b"/>
            <a:pathLst>
              <a:path w="996105" h="176956">
                <a:moveTo>
                  <a:pt x="0" y="0"/>
                </a:moveTo>
                <a:lnTo>
                  <a:pt x="996105" y="0"/>
                </a:lnTo>
                <a:lnTo>
                  <a:pt x="996105" y="176956"/>
                </a:lnTo>
                <a:lnTo>
                  <a:pt x="43180" y="176956"/>
                </a:lnTo>
                <a:lnTo>
                  <a:pt x="0" y="133776"/>
                </a:lnTo>
                <a:lnTo>
                  <a:pt x="830" y="142200"/>
                </a:lnTo>
                <a:lnTo>
                  <a:pt x="3287" y="150301"/>
                </a:lnTo>
                <a:lnTo>
                  <a:pt x="7277" y="157766"/>
                </a:lnTo>
                <a:lnTo>
                  <a:pt x="12647" y="164309"/>
                </a:lnTo>
                <a:lnTo>
                  <a:pt x="19190" y="169679"/>
                </a:lnTo>
                <a:lnTo>
                  <a:pt x="26656" y="173670"/>
                </a:lnTo>
                <a:lnTo>
                  <a:pt x="34756" y="176127"/>
                </a:lnTo>
                <a:lnTo>
                  <a:pt x="43180" y="176956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404217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285750"/>
            <a:ext cx="2507489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690" kern="0" spc="-17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Goes in </a:t>
            </a:r>
            <a:r>
              <a:rPr lang="en-US" sz="730" b="1" kern="0" spc="15" dirty="0">
                <a:solidFill>
                  <a:srgbClr val="58A6FF"/>
                </a:solidFill>
                <a:highlight>
                  <a:srgbClr val="58A6FF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472380" y="636836"/>
            <a:ext cx="286887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kern="0" spc="1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rules once — the agent follows them every time</a:t>
            </a:r>
            <a:endParaRPr lang="en-US" sz="76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7069" y="467329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64314" y="468957"/>
            <a:ext cx="2283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372070" y="953095"/>
            <a:ext cx="3970734" cy="2997994"/>
          </a:xfrm>
          <a:prstGeom prst="roundRect">
            <a:avLst>
              <a:gd name="adj" fmla="val 2881"/>
            </a:avLst>
          </a:prstGeom>
          <a:solidFill>
            <a:srgbClr val="161B22"/>
          </a:solidFill>
          <a:ln w="9525">
            <a:solidFill>
              <a:srgbClr val="F8514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3045" y="1389162"/>
            <a:ext cx="3608784" cy="9525"/>
          </a:xfrm>
          <a:prstGeom prst="rect">
            <a:avLst/>
          </a:prstGeom>
          <a:solidFill>
            <a:srgbClr val="F85149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22" y="1148962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2177" y="1120080"/>
            <a:ext cx="171110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8514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Architecture Spec</a:t>
            </a:r>
            <a:endParaRPr lang="en-US" sz="960" dirty="0"/>
          </a:p>
        </p:txBody>
      </p:sp>
      <p:sp>
        <p:nvSpPr>
          <p:cNvPr id="15" name="Text 11"/>
          <p:cNvSpPr/>
          <p:nvPr/>
        </p:nvSpPr>
        <p:spPr>
          <a:xfrm>
            <a:off x="553045" y="1771799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822" y="1567764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2177" y="1562398"/>
            <a:ext cx="166117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invents its own patterns</a:t>
            </a:r>
            <a:endParaRPr lang="en-US" sz="870" dirty="0"/>
          </a:p>
        </p:txBody>
      </p:sp>
      <p:sp>
        <p:nvSpPr>
          <p:cNvPr id="18" name="Text 13"/>
          <p:cNvSpPr/>
          <p:nvPr/>
        </p:nvSpPr>
        <p:spPr>
          <a:xfrm>
            <a:off x="553045" y="2040136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22" y="1836102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2177" y="1830735"/>
            <a:ext cx="272300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Minimal API with controller-based randomly</a:t>
            </a:r>
            <a:endParaRPr lang="en-US" sz="870" dirty="0"/>
          </a:p>
        </p:txBody>
      </p:sp>
      <p:sp>
        <p:nvSpPr>
          <p:cNvPr id="21" name="Text 15"/>
          <p:cNvSpPr/>
          <p:nvPr/>
        </p:nvSpPr>
        <p:spPr>
          <a:xfrm>
            <a:off x="553045" y="2308473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822" y="2104439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2177" y="2099072"/>
            <a:ext cx="130985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DI conventions</a:t>
            </a:r>
            <a:endParaRPr lang="en-US" sz="870" dirty="0"/>
          </a:p>
        </p:txBody>
      </p:sp>
      <p:sp>
        <p:nvSpPr>
          <p:cNvPr id="24" name="Text 17"/>
          <p:cNvSpPr/>
          <p:nvPr/>
        </p:nvSpPr>
        <p:spPr>
          <a:xfrm>
            <a:off x="553045" y="2576810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22" y="2372776"/>
            <a:ext cx="132588" cy="1325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2177" y="2367409"/>
            <a:ext cx="159323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error handling</a:t>
            </a:r>
            <a:endParaRPr lang="en-US" sz="8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0822" y="2641113"/>
            <a:ext cx="132588" cy="1325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2177" y="2635746"/>
            <a:ext cx="155967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looks different</a:t>
            </a:r>
            <a:endParaRPr lang="en-US" sz="870" dirty="0"/>
          </a:p>
        </p:txBody>
      </p:sp>
      <p:sp>
        <p:nvSpPr>
          <p:cNvPr id="29" name="Text 20"/>
          <p:cNvSpPr/>
          <p:nvPr/>
        </p:nvSpPr>
        <p:spPr>
          <a:xfrm>
            <a:off x="553045" y="3564731"/>
            <a:ext cx="2118420" cy="219373"/>
          </a:xfrm>
          <a:prstGeom prst="roundRect">
            <a:avLst>
              <a:gd name="adj" fmla="val 19683"/>
            </a:avLst>
          </a:prstGeom>
          <a:solidFill>
            <a:srgbClr val="F85149">
              <a:alpha val="10000"/>
            </a:srgbClr>
          </a:solidFill>
          <a:ln w="9525">
            <a:solidFill>
              <a:srgbClr val="F85149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348" y="3608049"/>
            <a:ext cx="132588" cy="132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1554" y="3609677"/>
            <a:ext cx="199547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output — every run differs</a:t>
            </a:r>
            <a:endParaRPr lang="en-US" sz="680" dirty="0"/>
          </a:p>
        </p:txBody>
      </p:sp>
      <p:sp>
        <p:nvSpPr>
          <p:cNvPr id="32" name="Text 22"/>
          <p:cNvSpPr/>
          <p:nvPr/>
        </p:nvSpPr>
        <p:spPr>
          <a:xfrm>
            <a:off x="4568130" y="953095"/>
            <a:ext cx="7590" cy="13945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96693" y="2376785"/>
            <a:ext cx="150465" cy="15046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568130" y="2556421"/>
            <a:ext cx="7590" cy="139466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4"/>
          <p:cNvSpPr/>
          <p:nvPr/>
        </p:nvSpPr>
        <p:spPr>
          <a:xfrm>
            <a:off x="4801195" y="953095"/>
            <a:ext cx="3970734" cy="2997994"/>
          </a:xfrm>
          <a:prstGeom prst="roundRect">
            <a:avLst>
              <a:gd name="adj" fmla="val 288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5"/>
          <p:cNvSpPr/>
          <p:nvPr/>
        </p:nvSpPr>
        <p:spPr>
          <a:xfrm>
            <a:off x="4982170" y="1389162"/>
            <a:ext cx="3608784" cy="9525"/>
          </a:xfrm>
          <a:prstGeom prst="rect">
            <a:avLst/>
          </a:prstGeom>
          <a:solidFill>
            <a:srgbClr val="58A6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9947" y="1148962"/>
            <a:ext cx="132588" cy="13258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181302" y="1120080"/>
            <a:ext cx="149861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Architecture Spec</a:t>
            </a:r>
            <a:endParaRPr lang="en-US" sz="960" dirty="0"/>
          </a:p>
        </p:txBody>
      </p:sp>
      <p:sp>
        <p:nvSpPr>
          <p:cNvPr id="39" name="Text 27"/>
          <p:cNvSpPr/>
          <p:nvPr/>
        </p:nvSpPr>
        <p:spPr>
          <a:xfrm>
            <a:off x="4982170" y="1771799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79947" y="1567764"/>
            <a:ext cx="132588" cy="13258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181302" y="1562398"/>
            <a:ext cx="150122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 endpoints only</a:t>
            </a:r>
            <a:endParaRPr lang="en-US" sz="870" dirty="0"/>
          </a:p>
        </p:txBody>
      </p:sp>
      <p:sp>
        <p:nvSpPr>
          <p:cNvPr id="42" name="Text 29"/>
          <p:cNvSpPr/>
          <p:nvPr/>
        </p:nvSpPr>
        <p:spPr>
          <a:xfrm>
            <a:off x="4982170" y="2040136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79947" y="1836102"/>
            <a:ext cx="132588" cy="132588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181302" y="1830735"/>
            <a:ext cx="193751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for data access</a:t>
            </a:r>
            <a:endParaRPr lang="en-US" sz="870" dirty="0"/>
          </a:p>
        </p:txBody>
      </p:sp>
      <p:sp>
        <p:nvSpPr>
          <p:cNvPr id="45" name="Text 31"/>
          <p:cNvSpPr/>
          <p:nvPr/>
        </p:nvSpPr>
        <p:spPr>
          <a:xfrm>
            <a:off x="4982170" y="2308473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9947" y="2104439"/>
            <a:ext cx="132588" cy="132588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5181302" y="2099072"/>
            <a:ext cx="162695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 for all inputs</a:t>
            </a:r>
            <a:endParaRPr lang="en-US" sz="870" dirty="0"/>
          </a:p>
        </p:txBody>
      </p:sp>
      <p:sp>
        <p:nvSpPr>
          <p:cNvPr id="48" name="Text 33"/>
          <p:cNvSpPr/>
          <p:nvPr/>
        </p:nvSpPr>
        <p:spPr>
          <a:xfrm>
            <a:off x="4982170" y="2576810"/>
            <a:ext cx="36087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79947" y="2372776"/>
            <a:ext cx="132588" cy="132588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5181302" y="2367409"/>
            <a:ext cx="206586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middleware</a:t>
            </a:r>
            <a:endParaRPr lang="en-US" sz="87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9947" y="2641113"/>
            <a:ext cx="132588" cy="132588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5181302" y="2635746"/>
            <a:ext cx="170816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response envelope</a:t>
            </a:r>
            <a:endParaRPr lang="en-US" sz="870" dirty="0"/>
          </a:p>
        </p:txBody>
      </p:sp>
      <p:sp>
        <p:nvSpPr>
          <p:cNvPr id="53" name="Text 36"/>
          <p:cNvSpPr/>
          <p:nvPr/>
        </p:nvSpPr>
        <p:spPr>
          <a:xfrm>
            <a:off x="4982170" y="3564731"/>
            <a:ext cx="2206823" cy="219373"/>
          </a:xfrm>
          <a:prstGeom prst="roundRect">
            <a:avLst>
              <a:gd name="adj" fmla="val 19683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46473" y="3608049"/>
            <a:ext cx="132588" cy="132588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5190679" y="3609677"/>
            <a:ext cx="20927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consistent output — every run</a:t>
            </a:r>
            <a:endParaRPr lang="en-US" sz="68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3355" y="4049771"/>
            <a:ext cx="132588" cy="132588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504379" y="4051399"/>
            <a:ext cx="242505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HEADINGS INSIDE ARCHITECTURE.MD</a:t>
            </a:r>
            <a:endParaRPr lang="en-US" sz="680" dirty="0"/>
          </a:p>
        </p:txBody>
      </p:sp>
      <p:sp>
        <p:nvSpPr>
          <p:cNvPr id="58" name="Text 39"/>
          <p:cNvSpPr/>
          <p:nvPr/>
        </p:nvSpPr>
        <p:spPr>
          <a:xfrm>
            <a:off x="372070" y="4230291"/>
            <a:ext cx="8399859" cy="712589"/>
          </a:xfrm>
          <a:prstGeom prst="roundRect">
            <a:avLst>
              <a:gd name="adj" fmla="val 9981"/>
            </a:avLst>
          </a:prstGeom>
          <a:solidFill>
            <a:srgbClr val="010409"/>
          </a:soli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0"/>
          <p:cNvSpPr/>
          <p:nvPr/>
        </p:nvSpPr>
        <p:spPr>
          <a:xfrm>
            <a:off x="525066" y="4354116"/>
            <a:ext cx="934358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1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Stack
</a:t>
            </a: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.NET 8, EF Core, PostgreSQL</a:t>
            </a:r>
            <a:endParaRPr lang="en-US" sz="730" dirty="0"/>
          </a:p>
        </p:txBody>
      </p:sp>
      <p:sp>
        <p:nvSpPr>
          <p:cNvPr id="60" name="Text 41"/>
          <p:cNvSpPr/>
          <p:nvPr/>
        </p:nvSpPr>
        <p:spPr>
          <a:xfrm>
            <a:off x="1784003" y="4354116"/>
            <a:ext cx="7590" cy="464939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2"/>
          <p:cNvSpPr/>
          <p:nvPr/>
        </p:nvSpPr>
        <p:spPr>
          <a:xfrm>
            <a:off x="2134493" y="4354116"/>
            <a:ext cx="1321004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1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Patterns
</a:t>
            </a: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Repository, CQRS-lite, FluentValidation</a:t>
            </a:r>
            <a:endParaRPr lang="en-US" sz="730" dirty="0"/>
          </a:p>
        </p:txBody>
      </p:sp>
      <p:sp>
        <p:nvSpPr>
          <p:cNvPr id="62" name="Text 43"/>
          <p:cNvSpPr/>
          <p:nvPr/>
        </p:nvSpPr>
        <p:spPr>
          <a:xfrm>
            <a:off x="3772495" y="4354116"/>
            <a:ext cx="7590" cy="464939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4"/>
          <p:cNvSpPr/>
          <p:nvPr/>
        </p:nvSpPr>
        <p:spPr>
          <a:xfrm>
            <a:off x="4122986" y="4354116"/>
            <a:ext cx="1353187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1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
</a:t>
            </a: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Naming, folder structure, response shape</a:t>
            </a:r>
            <a:endParaRPr lang="en-US" sz="730" dirty="0"/>
          </a:p>
        </p:txBody>
      </p:sp>
      <p:sp>
        <p:nvSpPr>
          <p:cNvPr id="64" name="Text 45"/>
          <p:cNvSpPr/>
          <p:nvPr/>
        </p:nvSpPr>
        <p:spPr>
          <a:xfrm>
            <a:off x="5792539" y="4354116"/>
            <a:ext cx="7590" cy="464939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46"/>
          <p:cNvSpPr/>
          <p:nvPr/>
        </p:nvSpPr>
        <p:spPr>
          <a:xfrm>
            <a:off x="6143030" y="4354116"/>
            <a:ext cx="1578617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1"/>
              </a:lnSpc>
              <a:buNone/>
            </a:pPr>
            <a:r>
              <a:rPr lang="en-US" sz="73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Non-Negotiables
</a:t>
            </a: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static classes, no raw SQL, no magic strings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43030" y="0"/>
            <a:ext cx="3000970" cy="2000250"/>
          </a:xfrm>
          <a:prstGeom prst="rect">
            <a:avLst/>
          </a:prstGeom>
          <a:gradFill rotWithShape="1">
            <a:gsLst>
              <a:gs pos="0">
                <a:srgbClr val="58A6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60000">
                <a:srgbClr val="58A6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820" y="314920"/>
            <a:ext cx="175972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2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SYSTEM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457200" y="497086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340"/>
              </a:spcAft>
              <a:buNone/>
            </a:pPr>
            <a:r>
              <a:rPr lang="en-US" sz="236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</a:t>
            </a:r>
            <a:r>
              <a:rPr lang="en-US" sz="236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Files</a:t>
            </a:r>
            <a:endParaRPr lang="en-US" sz="2360" dirty="0"/>
          </a:p>
        </p:txBody>
      </p:sp>
      <p:sp>
        <p:nvSpPr>
          <p:cNvPr id="8" name="Text 6"/>
          <p:cNvSpPr/>
          <p:nvPr/>
        </p:nvSpPr>
        <p:spPr>
          <a:xfrm>
            <a:off x="457200" y="869900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markdown files that define a single feature or domain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57200" y="1210121"/>
            <a:ext cx="5957739" cy="447229"/>
          </a:xfrm>
          <a:prstGeom prst="roundRect">
            <a:avLst>
              <a:gd name="adj" fmla="val 15902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1025" y="1298377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616" y="1360968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9105" y="951011"/>
            <a:ext cx="2788652" cy="888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Location
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specs/ folder at the repo root, versioned with the code.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1728341"/>
            <a:ext cx="5957739" cy="447229"/>
          </a:xfrm>
          <a:prstGeom prst="roundRect">
            <a:avLst>
              <a:gd name="adj" fmla="val 15902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1025" y="181659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616" y="1879187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9105" y="1479946"/>
            <a:ext cx="3461299" cy="87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Format
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markdown: overview, entities, API endpoints, validation rules, edge cases.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2246561"/>
            <a:ext cx="5957739" cy="447229"/>
          </a:xfrm>
          <a:prstGeom prst="roundRect">
            <a:avLst>
              <a:gd name="adj" fmla="val 15902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81025" y="233481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616" y="2397407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9105" y="2011776"/>
            <a:ext cx="3270025" cy="86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Scope
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 per feature domain — e.g., USERS.md, ORDERS.md, AUTH.md.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2764780"/>
            <a:ext cx="5957739" cy="447229"/>
          </a:xfrm>
          <a:prstGeom prst="roundRect">
            <a:avLst>
              <a:gd name="adj" fmla="val 15902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81025" y="285303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616" y="2915626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9105" y="2529995"/>
            <a:ext cx="3354276" cy="86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Cross-references
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reference ARCHITECTURE.md so the agent always has global context.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3283000"/>
            <a:ext cx="5957739" cy="447229"/>
          </a:xfrm>
          <a:prstGeom prst="roundRect">
            <a:avLst>
              <a:gd name="adj" fmla="val 15902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81025" y="337125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616" y="3433846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9105" y="3034605"/>
            <a:ext cx="3570750" cy="878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Evolving
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spec when requirements change; agent stays in sync on the next task.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3801219"/>
            <a:ext cx="5957739" cy="447229"/>
          </a:xfrm>
          <a:prstGeom prst="roundRect">
            <a:avLst>
              <a:gd name="adj" fmla="val 15902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581025" y="388947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616" y="3952065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9105" y="3566434"/>
            <a:ext cx="3148429" cy="86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Acceptance Criteria
</a:t>
            </a: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explicit "done means…" statements the agent can verify against.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615559" y="1210121"/>
            <a:ext cx="2071241" cy="2841427"/>
          </a:xfrm>
          <a:prstGeom prst="roundRect">
            <a:avLst>
              <a:gd name="adj" fmla="val 4169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6625084" y="1219646"/>
            <a:ext cx="2052191" cy="296466"/>
          </a:xfrm>
          <a:prstGeom prst="rect">
            <a:avLst/>
          </a:prstGeom>
          <a:solidFill>
            <a:srgbClr val="58A6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6625084" y="1506587"/>
            <a:ext cx="2052191" cy="9525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0669" y="1296748"/>
            <a:ext cx="132588" cy="132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71692" y="1298377"/>
            <a:ext cx="101255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</a:t>
            </a:r>
            <a:endParaRPr lang="en-US" sz="68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7012" y="1678195"/>
            <a:ext cx="132588" cy="1325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881217" y="1644253"/>
            <a:ext cx="26537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.specs/</a:t>
            </a:r>
            <a:endParaRPr lang="en-US" sz="790" dirty="0"/>
          </a:p>
        </p:txBody>
      </p:sp>
      <p:sp>
        <p:nvSpPr>
          <p:cNvPr id="40" name="Text 30"/>
          <p:cNvSpPr/>
          <p:nvPr/>
        </p:nvSpPr>
        <p:spPr>
          <a:xfrm>
            <a:off x="6811714" y="1888034"/>
            <a:ext cx="2272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44C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9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27524" y="1878815"/>
            <a:ext cx="132588" cy="13258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169348" y="1844873"/>
            <a:ext cx="9950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79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790" dirty="0"/>
          </a:p>
        </p:txBody>
      </p:sp>
      <p:sp>
        <p:nvSpPr>
          <p:cNvPr id="43" name="Text 32"/>
          <p:cNvSpPr/>
          <p:nvPr/>
        </p:nvSpPr>
        <p:spPr>
          <a:xfrm>
            <a:off x="6811714" y="2088654"/>
            <a:ext cx="2272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44C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9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27524" y="2079435"/>
            <a:ext cx="132588" cy="13258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169348" y="2045494"/>
            <a:ext cx="530751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79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USERS.md</a:t>
            </a:r>
            <a:endParaRPr lang="en-US" sz="790" dirty="0"/>
          </a:p>
        </p:txBody>
      </p:sp>
      <p:sp>
        <p:nvSpPr>
          <p:cNvPr id="46" name="Text 34"/>
          <p:cNvSpPr/>
          <p:nvPr/>
        </p:nvSpPr>
        <p:spPr>
          <a:xfrm>
            <a:off x="6811714" y="2289274"/>
            <a:ext cx="2272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44C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9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7524" y="2280056"/>
            <a:ext cx="132588" cy="1325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7169348" y="2246114"/>
            <a:ext cx="59705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79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ORDERS.md</a:t>
            </a:r>
            <a:endParaRPr lang="en-US" sz="790" dirty="0"/>
          </a:p>
        </p:txBody>
      </p:sp>
      <p:sp>
        <p:nvSpPr>
          <p:cNvPr id="49" name="Text 36"/>
          <p:cNvSpPr/>
          <p:nvPr/>
        </p:nvSpPr>
        <p:spPr>
          <a:xfrm>
            <a:off x="6811714" y="2489895"/>
            <a:ext cx="2272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44C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</a:t>
            </a:r>
            <a:endParaRPr lang="en-US" sz="9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27524" y="2480676"/>
            <a:ext cx="132588" cy="13258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169348" y="2446734"/>
            <a:ext cx="464448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79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AUTH.md</a:t>
            </a:r>
            <a:endParaRPr lang="en-US" sz="790" dirty="0"/>
          </a:p>
        </p:txBody>
      </p:sp>
      <p:sp>
        <p:nvSpPr>
          <p:cNvPr id="52" name="Text 38"/>
          <p:cNvSpPr/>
          <p:nvPr/>
        </p:nvSpPr>
        <p:spPr>
          <a:xfrm>
            <a:off x="6768554" y="2804666"/>
            <a:ext cx="70991" cy="70991"/>
          </a:xfrm>
          <a:prstGeom prst="roundRect">
            <a:avLst>
              <a:gd name="adj" fmla="val 19679"/>
            </a:avLst>
          </a:prstGeom>
          <a:solidFill>
            <a:srgbClr val="FFA6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39"/>
          <p:cNvSpPr/>
          <p:nvPr/>
        </p:nvSpPr>
        <p:spPr>
          <a:xfrm>
            <a:off x="6896695" y="2775496"/>
            <a:ext cx="102745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architecture rules</a:t>
            </a:r>
            <a:endParaRPr lang="en-US" sz="680" dirty="0"/>
          </a:p>
        </p:txBody>
      </p:sp>
      <p:sp>
        <p:nvSpPr>
          <p:cNvPr id="54" name="Text 40"/>
          <p:cNvSpPr/>
          <p:nvPr/>
        </p:nvSpPr>
        <p:spPr>
          <a:xfrm>
            <a:off x="6768554" y="2983557"/>
            <a:ext cx="70991" cy="70991"/>
          </a:xfrm>
          <a:prstGeom prst="roundRect">
            <a:avLst>
              <a:gd name="adj" fmla="val 19679"/>
            </a:avLst>
          </a:prstGeom>
          <a:solidFill>
            <a:srgbClr val="7EE78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1"/>
          <p:cNvSpPr/>
          <p:nvPr/>
        </p:nvSpPr>
        <p:spPr>
          <a:xfrm>
            <a:off x="6896695" y="2954387"/>
            <a:ext cx="9379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domain specs</a:t>
            </a:r>
            <a:endParaRPr lang="en-US" sz="680" dirty="0"/>
          </a:p>
        </p:txBody>
      </p:sp>
      <p:sp>
        <p:nvSpPr>
          <p:cNvPr id="56" name="Text 42"/>
          <p:cNvSpPr/>
          <p:nvPr/>
        </p:nvSpPr>
        <p:spPr>
          <a:xfrm>
            <a:off x="6615559" y="4165848"/>
            <a:ext cx="2071241" cy="409575"/>
          </a:xfrm>
          <a:prstGeom prst="roundRect">
            <a:avLst>
              <a:gd name="adj" fmla="val 13953"/>
            </a:avLst>
          </a:prstGeom>
          <a:solidFill>
            <a:srgbClr val="7EE787">
              <a:alpha val="10000"/>
            </a:srgbClr>
          </a:solidFill>
          <a:ln w="9525">
            <a:solidFill>
              <a:srgbClr val="7EE787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01963" y="4304342"/>
            <a:ext cx="132588" cy="132588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6868269" y="4246364"/>
            <a:ext cx="1742870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live in git — PRs update spec + code together</a:t>
            </a:r>
            <a:endParaRPr lang="en-US" sz="700" dirty="0"/>
          </a:p>
        </p:txBody>
      </p:sp>
      <p:sp>
        <p:nvSpPr>
          <p:cNvPr id="59" name="Text 44"/>
          <p:cNvSpPr/>
          <p:nvPr/>
        </p:nvSpPr>
        <p:spPr>
          <a:xfrm>
            <a:off x="457200" y="4675733"/>
            <a:ext cx="82296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5"/>
          <p:cNvSpPr/>
          <p:nvPr/>
        </p:nvSpPr>
        <p:spPr>
          <a:xfrm>
            <a:off x="457200" y="4756249"/>
            <a:ext cx="254816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Spec-Driven Development  ·  Edmonton .NET User Group</a:t>
            </a:r>
            <a:endParaRPr lang="en-US" sz="680" dirty="0"/>
          </a:p>
        </p:txBody>
      </p:sp>
      <p:sp>
        <p:nvSpPr>
          <p:cNvPr id="61" name="Text 46"/>
          <p:cNvSpPr/>
          <p:nvPr/>
        </p:nvSpPr>
        <p:spPr>
          <a:xfrm>
            <a:off x="8643640" y="4799409"/>
            <a:ext cx="43160" cy="43160"/>
          </a:xfrm>
          <a:prstGeom prst="ellipse">
            <a:avLst/>
          </a:prstGeom>
          <a:solidFill>
            <a:srgbClr val="58A6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7"/>
          <p:cNvSpPr/>
          <p:nvPr/>
        </p:nvSpPr>
        <p:spPr>
          <a:xfrm>
            <a:off x="466725" y="1219646"/>
            <a:ext cx="21580" cy="428178"/>
          </a:xfrm>
          <a:custGeom>
            <a:avLst/>
            <a:gdLst/>
            <a:ahLst/>
            <a:cxnLst/>
            <a:rect l="l" t="t" r="r" b="b"/>
            <a:pathLst>
              <a:path w="21580" h="428178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08086"/>
                </a:lnTo>
                <a:lnTo>
                  <a:pt x="18883" y="405321"/>
                </a:lnTo>
                <a:lnTo>
                  <a:pt x="16185" y="402227"/>
                </a:lnTo>
                <a:lnTo>
                  <a:pt x="13488" y="398730"/>
                </a:lnTo>
                <a:lnTo>
                  <a:pt x="10790" y="394719"/>
                </a:lnTo>
                <a:lnTo>
                  <a:pt x="8093" y="390007"/>
                </a:lnTo>
                <a:lnTo>
                  <a:pt x="5395" y="384230"/>
                </a:lnTo>
                <a:lnTo>
                  <a:pt x="2698" y="376460"/>
                </a:lnTo>
                <a:lnTo>
                  <a:pt x="0" y="357058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8"/>
          <p:cNvSpPr/>
          <p:nvPr/>
        </p:nvSpPr>
        <p:spPr>
          <a:xfrm>
            <a:off x="466725" y="1737866"/>
            <a:ext cx="21580" cy="428178"/>
          </a:xfrm>
          <a:custGeom>
            <a:avLst/>
            <a:gdLst/>
            <a:ahLst/>
            <a:cxnLst/>
            <a:rect l="l" t="t" r="r" b="b"/>
            <a:pathLst>
              <a:path w="21580" h="428178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08086"/>
                </a:lnTo>
                <a:lnTo>
                  <a:pt x="18883" y="405321"/>
                </a:lnTo>
                <a:lnTo>
                  <a:pt x="16185" y="402227"/>
                </a:lnTo>
                <a:lnTo>
                  <a:pt x="13488" y="398730"/>
                </a:lnTo>
                <a:lnTo>
                  <a:pt x="10790" y="394719"/>
                </a:lnTo>
                <a:lnTo>
                  <a:pt x="8093" y="390007"/>
                </a:lnTo>
                <a:lnTo>
                  <a:pt x="5395" y="384230"/>
                </a:lnTo>
                <a:lnTo>
                  <a:pt x="2698" y="376460"/>
                </a:lnTo>
                <a:lnTo>
                  <a:pt x="0" y="357058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49"/>
          <p:cNvSpPr/>
          <p:nvPr/>
        </p:nvSpPr>
        <p:spPr>
          <a:xfrm>
            <a:off x="466725" y="2256086"/>
            <a:ext cx="21580" cy="428178"/>
          </a:xfrm>
          <a:custGeom>
            <a:avLst/>
            <a:gdLst/>
            <a:ahLst/>
            <a:cxnLst/>
            <a:rect l="l" t="t" r="r" b="b"/>
            <a:pathLst>
              <a:path w="21580" h="428178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08086"/>
                </a:lnTo>
                <a:lnTo>
                  <a:pt x="18883" y="405321"/>
                </a:lnTo>
                <a:lnTo>
                  <a:pt x="16185" y="402227"/>
                </a:lnTo>
                <a:lnTo>
                  <a:pt x="13488" y="398730"/>
                </a:lnTo>
                <a:lnTo>
                  <a:pt x="10790" y="394719"/>
                </a:lnTo>
                <a:lnTo>
                  <a:pt x="8093" y="390007"/>
                </a:lnTo>
                <a:lnTo>
                  <a:pt x="5395" y="384230"/>
                </a:lnTo>
                <a:lnTo>
                  <a:pt x="2698" y="376460"/>
                </a:lnTo>
                <a:lnTo>
                  <a:pt x="0" y="357058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0"/>
          <p:cNvSpPr/>
          <p:nvPr/>
        </p:nvSpPr>
        <p:spPr>
          <a:xfrm>
            <a:off x="466725" y="2774305"/>
            <a:ext cx="21580" cy="428178"/>
          </a:xfrm>
          <a:custGeom>
            <a:avLst/>
            <a:gdLst/>
            <a:ahLst/>
            <a:cxnLst/>
            <a:rect l="l" t="t" r="r" b="b"/>
            <a:pathLst>
              <a:path w="21580" h="428178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08086"/>
                </a:lnTo>
                <a:lnTo>
                  <a:pt x="18883" y="405321"/>
                </a:lnTo>
                <a:lnTo>
                  <a:pt x="16185" y="402227"/>
                </a:lnTo>
                <a:lnTo>
                  <a:pt x="13488" y="398730"/>
                </a:lnTo>
                <a:lnTo>
                  <a:pt x="10790" y="394719"/>
                </a:lnTo>
                <a:lnTo>
                  <a:pt x="8093" y="390007"/>
                </a:lnTo>
                <a:lnTo>
                  <a:pt x="5395" y="384230"/>
                </a:lnTo>
                <a:lnTo>
                  <a:pt x="2698" y="376460"/>
                </a:lnTo>
                <a:lnTo>
                  <a:pt x="0" y="357058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1"/>
          <p:cNvSpPr/>
          <p:nvPr/>
        </p:nvSpPr>
        <p:spPr>
          <a:xfrm>
            <a:off x="466725" y="3292525"/>
            <a:ext cx="21580" cy="428178"/>
          </a:xfrm>
          <a:custGeom>
            <a:avLst/>
            <a:gdLst/>
            <a:ahLst/>
            <a:cxnLst/>
            <a:rect l="l" t="t" r="r" b="b"/>
            <a:pathLst>
              <a:path w="21580" h="428178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08086"/>
                </a:lnTo>
                <a:lnTo>
                  <a:pt x="18883" y="405321"/>
                </a:lnTo>
                <a:lnTo>
                  <a:pt x="16185" y="402227"/>
                </a:lnTo>
                <a:lnTo>
                  <a:pt x="13488" y="398730"/>
                </a:lnTo>
                <a:lnTo>
                  <a:pt x="10790" y="394719"/>
                </a:lnTo>
                <a:lnTo>
                  <a:pt x="8093" y="390007"/>
                </a:lnTo>
                <a:lnTo>
                  <a:pt x="5395" y="384230"/>
                </a:lnTo>
                <a:lnTo>
                  <a:pt x="2698" y="376460"/>
                </a:lnTo>
                <a:lnTo>
                  <a:pt x="0" y="357058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2"/>
          <p:cNvSpPr/>
          <p:nvPr/>
        </p:nvSpPr>
        <p:spPr>
          <a:xfrm>
            <a:off x="466725" y="3810744"/>
            <a:ext cx="21580" cy="428178"/>
          </a:xfrm>
          <a:custGeom>
            <a:avLst/>
            <a:gdLst/>
            <a:ahLst/>
            <a:cxnLst/>
            <a:rect l="l" t="t" r="r" b="b"/>
            <a:pathLst>
              <a:path w="21580" h="428178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08086"/>
                </a:lnTo>
                <a:lnTo>
                  <a:pt x="18883" y="405321"/>
                </a:lnTo>
                <a:lnTo>
                  <a:pt x="16185" y="402227"/>
                </a:lnTo>
                <a:lnTo>
                  <a:pt x="13488" y="398730"/>
                </a:lnTo>
                <a:lnTo>
                  <a:pt x="10790" y="394719"/>
                </a:lnTo>
                <a:lnTo>
                  <a:pt x="8093" y="390007"/>
                </a:lnTo>
                <a:lnTo>
                  <a:pt x="5395" y="384230"/>
                </a:lnTo>
                <a:lnTo>
                  <a:pt x="2698" y="376460"/>
                </a:lnTo>
                <a:lnTo>
                  <a:pt x="0" y="357058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3"/>
          <p:cNvSpPr/>
          <p:nvPr/>
        </p:nvSpPr>
        <p:spPr>
          <a:xfrm>
            <a:off x="457200" y="377503"/>
            <a:ext cx="143470" cy="13841"/>
          </a:xfrm>
          <a:prstGeom prst="roundRect">
            <a:avLst>
              <a:gd name="adj" fmla="val 100932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58A6FF"/>
              </a:gs>
              <a:gs pos="60000">
                <a:srgbClr val="58A6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220" y="342900"/>
            <a:ext cx="29170" cy="257770"/>
          </a:xfrm>
          <a:prstGeom prst="roundRect">
            <a:avLst>
              <a:gd name="adj" fmla="val 47892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271760"/>
            <a:ext cx="3335887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kern="0" spc="-32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Agent Workflow </a:t>
            </a:r>
            <a:r>
              <a:rPr lang="en-US" sz="1580" kern="0" spc="-32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Step by Step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558701" y="521494"/>
            <a:ext cx="342941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kern="0" spc="2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WORKFLOW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8108156" y="375940"/>
            <a:ext cx="618756" cy="191691"/>
          </a:xfrm>
          <a:prstGeom prst="roundRect">
            <a:avLst>
              <a:gd name="adj" fmla="val 74865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lIns="162213" tIns="21590" rIns="71120" bIns="2159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Loop</a:t>
            </a:r>
            <a:endParaRPr lang="en-US" sz="68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289" y="405417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9220" y="843409"/>
            <a:ext cx="1580108" cy="1257598"/>
          </a:xfrm>
          <a:prstGeom prst="roundRect">
            <a:avLst>
              <a:gd name="adj" fmla="val 5655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9055" y="1003399"/>
            <a:ext cx="185291" cy="203820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613743" y="95324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250" y="1029751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055" y="1282154"/>
            <a:ext cx="89599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📋 Spec Review</a:t>
            </a:r>
            <a:endParaRPr lang="en-US" sz="840" dirty="0"/>
          </a:p>
        </p:txBody>
      </p:sp>
      <p:sp>
        <p:nvSpPr>
          <p:cNvPr id="15" name="Text 11"/>
          <p:cNvSpPr/>
          <p:nvPr/>
        </p:nvSpPr>
        <p:spPr>
          <a:xfrm>
            <a:off x="539055" y="1453307"/>
            <a:ext cx="1387647" cy="56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</a:t>
            </a:r>
            <a:r>
              <a:rPr lang="en-US" sz="6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relevant feature spec file to understand full context before writing any code.</a:t>
            </a:r>
            <a:endParaRPr lang="en-US" sz="73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1106" y="96865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5471" y="843409"/>
            <a:ext cx="1580257" cy="1391692"/>
          </a:xfrm>
          <a:prstGeom prst="roundRect">
            <a:avLst>
              <a:gd name="adj" fmla="val 5110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2215307" y="1003399"/>
            <a:ext cx="185291" cy="203820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9" name="Text 14"/>
          <p:cNvSpPr/>
          <p:nvPr/>
        </p:nvSpPr>
        <p:spPr>
          <a:xfrm>
            <a:off x="3290143" y="95324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6650" y="1029751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15307" y="1282154"/>
            <a:ext cx="107820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🗺️ Plan Generation</a:t>
            </a:r>
            <a:endParaRPr lang="en-US" sz="840" dirty="0"/>
          </a:p>
        </p:txBody>
      </p:sp>
      <p:sp>
        <p:nvSpPr>
          <p:cNvPr id="22" name="Text 16"/>
          <p:cNvSpPr/>
          <p:nvPr/>
        </p:nvSpPr>
        <p:spPr>
          <a:xfrm>
            <a:off x="2215307" y="1453307"/>
            <a:ext cx="1387798" cy="70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a file-by-file implementation plan for developer review and explicit approval before any code is written.</a:t>
            </a:r>
            <a:endParaRPr lang="en-US" sz="73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506" y="968657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81871" y="843409"/>
            <a:ext cx="1580108" cy="1257300"/>
          </a:xfrm>
          <a:prstGeom prst="roundRect">
            <a:avLst>
              <a:gd name="adj" fmla="val 5657"/>
            </a:avLst>
          </a:prstGeom>
          <a:gradFill rotWithShape="1">
            <a:gsLst>
              <a:gs pos="70000">
                <a:srgbClr val="161B22"/>
              </a:gs>
              <a:gs pos="100000">
                <a:srgbClr val="58A6FF">
                  <a:alpha val="5000"/>
                </a:srgbClr>
              </a:gs>
            </a:gsLst>
            <a:lin ang="4200000" scaled="1"/>
          </a:gradFill>
          <a:ln w="9525">
            <a:solidFill>
              <a:srgbClr val="58A6FF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3891707" y="1003399"/>
            <a:ext cx="185291" cy="203820"/>
          </a:xfrm>
          <a:prstGeom prst="ellipse">
            <a:avLst/>
          </a:prstGeom>
          <a:solidFill>
            <a:srgbClr val="58A6FF">
              <a:alpha val="2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26" name="Text 19"/>
          <p:cNvSpPr/>
          <p:nvPr/>
        </p:nvSpPr>
        <p:spPr>
          <a:xfrm>
            <a:off x="4966395" y="95324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8000"/>
            </a:srgbClr>
          </a:solidFill>
          <a:ln w="9525">
            <a:solidFill>
              <a:srgbClr val="58A6FF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42901" y="1029751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91707" y="1282154"/>
            <a:ext cx="112371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⚙️ Code Generation</a:t>
            </a:r>
            <a:endParaRPr lang="en-US" sz="840" dirty="0"/>
          </a:p>
        </p:txBody>
      </p:sp>
      <p:sp>
        <p:nvSpPr>
          <p:cNvPr id="29" name="Text 21"/>
          <p:cNvSpPr/>
          <p:nvPr/>
        </p:nvSpPr>
        <p:spPr>
          <a:xfrm>
            <a:off x="3891707" y="1453307"/>
            <a:ext cx="1387647" cy="564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all files: endpoints, services, repositories, validators, and tests — fully aligned with the spec.</a:t>
            </a:r>
            <a:endParaRPr lang="en-US" sz="73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43757" y="968657"/>
            <a:ext cx="132588" cy="132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458123" y="843409"/>
            <a:ext cx="1580257" cy="1257300"/>
          </a:xfrm>
          <a:prstGeom prst="roundRect">
            <a:avLst>
              <a:gd name="adj" fmla="val 5657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5567958" y="1003399"/>
            <a:ext cx="185291" cy="203820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33" name="Text 24"/>
          <p:cNvSpPr/>
          <p:nvPr/>
        </p:nvSpPr>
        <p:spPr>
          <a:xfrm>
            <a:off x="6642795" y="95324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9301" y="1029751"/>
            <a:ext cx="132588" cy="1325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567958" y="1282154"/>
            <a:ext cx="1065267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🔍 Self-Verification</a:t>
            </a:r>
            <a:endParaRPr lang="en-US" sz="840" dirty="0"/>
          </a:p>
        </p:txBody>
      </p:sp>
      <p:sp>
        <p:nvSpPr>
          <p:cNvPr id="36" name="Text 26"/>
          <p:cNvSpPr/>
          <p:nvPr/>
        </p:nvSpPr>
        <p:spPr>
          <a:xfrm>
            <a:off x="5567958" y="1453307"/>
            <a:ext cx="1387798" cy="564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cross-checks generated code against spec requirements and architectural rules. No guessing — it verifies.</a:t>
            </a:r>
            <a:endParaRPr lang="en-US" sz="73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20157" y="968657"/>
            <a:ext cx="132588" cy="132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134523" y="843409"/>
            <a:ext cx="1580257" cy="1391692"/>
          </a:xfrm>
          <a:prstGeom prst="roundRect">
            <a:avLst>
              <a:gd name="adj" fmla="val 5110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8"/>
          <p:cNvSpPr/>
          <p:nvPr/>
        </p:nvSpPr>
        <p:spPr>
          <a:xfrm>
            <a:off x="7244358" y="1003399"/>
            <a:ext cx="185291" cy="203820"/>
          </a:xfrm>
          <a:prstGeom prst="ellipse">
            <a:avLst/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40" name="Text 29"/>
          <p:cNvSpPr/>
          <p:nvPr/>
        </p:nvSpPr>
        <p:spPr>
          <a:xfrm>
            <a:off x="8319195" y="95324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95701" y="1029751"/>
            <a:ext cx="132588" cy="13258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244358" y="1282154"/>
            <a:ext cx="641747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🔁 Iteration</a:t>
            </a:r>
            <a:endParaRPr lang="en-US" sz="840" dirty="0"/>
          </a:p>
        </p:txBody>
      </p:sp>
      <p:sp>
        <p:nvSpPr>
          <p:cNvPr id="43" name="Text 31"/>
          <p:cNvSpPr/>
          <p:nvPr/>
        </p:nvSpPr>
        <p:spPr>
          <a:xfrm>
            <a:off x="7244358" y="1453307"/>
            <a:ext cx="1387798" cy="70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reviews output, requests corrections via natural language referencing spec sections — agent updates precisely.</a:t>
            </a:r>
            <a:endParaRPr lang="en-US" sz="730" dirty="0"/>
          </a:p>
        </p:txBody>
      </p:sp>
      <p:sp>
        <p:nvSpPr>
          <p:cNvPr id="44" name="Text 32"/>
          <p:cNvSpPr/>
          <p:nvPr/>
        </p:nvSpPr>
        <p:spPr>
          <a:xfrm>
            <a:off x="429220" y="4438948"/>
            <a:ext cx="6480721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>
                  <a:alpha val="15000"/>
                </a:srgbClr>
              </a:gs>
              <a:gs pos="100000">
                <a:srgbClr val="58A6FF">
                  <a:alpha val="2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3"/>
          <p:cNvSpPr/>
          <p:nvPr/>
        </p:nvSpPr>
        <p:spPr>
          <a:xfrm>
            <a:off x="7061002" y="4378077"/>
            <a:ext cx="18191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27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UNTIL SPEC SATISFIED</a:t>
            </a:r>
            <a:endParaRPr lang="en-US" sz="68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19177" y="4376449"/>
            <a:ext cx="132588" cy="132588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29220" y="4621857"/>
            <a:ext cx="8285559" cy="321022"/>
          </a:xfrm>
          <a:prstGeom prst="roundRect">
            <a:avLst>
              <a:gd name="adj" fmla="val 17803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5"/>
          <p:cNvSpPr/>
          <p:nvPr/>
        </p:nvSpPr>
        <p:spPr>
          <a:xfrm>
            <a:off x="582216" y="4753719"/>
            <a:ext cx="57150" cy="5715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6925" y="4716000"/>
            <a:ext cx="132588" cy="132588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867073" y="4702373"/>
            <a:ext cx="330712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kern="0" spc="8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 agent never loses context — specs are always in scope."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57015" y="857250"/>
            <a:ext cx="6429970" cy="3429000"/>
          </a:xfrm>
          <a:prstGeom prst="rect">
            <a:avLst/>
          </a:prstGeom>
          <a:gradFill rotWithShape="1">
            <a:gsLst>
              <a:gs pos="0">
                <a:srgbClr val="58A6FF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/>
              </a:gs>
              <a:gs pos="7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143470"/>
            <a:ext cx="865889" cy="1857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0"/>
              </a:lnSpc>
              <a:buNone/>
            </a:pPr>
            <a:r>
              <a:rPr lang="en-US" sz="14630" dirty="0">
                <a:solidFill>
                  <a:srgbClr val="58A6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14630" dirty="0"/>
          </a:p>
        </p:txBody>
      </p:sp>
      <p:sp>
        <p:nvSpPr>
          <p:cNvPr id="7" name="Text 5"/>
          <p:cNvSpPr/>
          <p:nvPr/>
        </p:nvSpPr>
        <p:spPr>
          <a:xfrm>
            <a:off x="7947273" y="3070920"/>
            <a:ext cx="865889" cy="1857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0"/>
              </a:lnSpc>
              <a:buNone/>
            </a:pPr>
            <a:r>
              <a:rPr lang="en-US" sz="14630" dirty="0">
                <a:solidFill>
                  <a:srgbClr val="58A6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14630" dirty="0"/>
          </a:p>
        </p:txBody>
      </p:sp>
      <p:sp>
        <p:nvSpPr>
          <p:cNvPr id="8" name="Text 6"/>
          <p:cNvSpPr/>
          <p:nvPr/>
        </p:nvSpPr>
        <p:spPr>
          <a:xfrm>
            <a:off x="7432625" y="4868019"/>
            <a:ext cx="15989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62" dirty="0">
                <a:solidFill>
                  <a:srgbClr val="8B949E">
                    <a:alpha val="4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SPEC-DRIVEN DEVELOPMENT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2672142" y="912019"/>
            <a:ext cx="379956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1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 PROMPT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2723954" y="1112490"/>
            <a:ext cx="3695943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10"/>
              </a:lnSpc>
              <a:buNone/>
            </a:pPr>
            <a:r>
              <a:rPr lang="en-US" sz="2140" kern="0" spc="-2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Prompt to Rule Them All</a:t>
            </a:r>
            <a:endParaRPr lang="en-US" sz="2140" dirty="0"/>
          </a:p>
        </p:txBody>
      </p:sp>
      <p:sp>
        <p:nvSpPr>
          <p:cNvPr id="11" name="Text 9"/>
          <p:cNvSpPr/>
          <p:nvPr/>
        </p:nvSpPr>
        <p:spPr>
          <a:xfrm>
            <a:off x="857250" y="1720751"/>
            <a:ext cx="7429500" cy="1620143"/>
          </a:xfrm>
          <a:prstGeom prst="roundRect">
            <a:avLst>
              <a:gd name="adj" fmla="val 6193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1720751"/>
            <a:ext cx="28575" cy="1620143"/>
          </a:xfrm>
          <a:custGeom>
            <a:avLst/>
            <a:gdLst/>
            <a:ahLst/>
            <a:cxnLst/>
            <a:rect l="l" t="t" r="r" b="b"/>
            <a:pathLst>
              <a:path w="28575" h="1620143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1589937"/>
                </a:lnTo>
                <a:lnTo>
                  <a:pt x="25003" y="1586085"/>
                </a:lnTo>
                <a:lnTo>
                  <a:pt x="21431" y="1581790"/>
                </a:lnTo>
                <a:lnTo>
                  <a:pt x="17859" y="1576951"/>
                </a:lnTo>
                <a:lnTo>
                  <a:pt x="14288" y="1571415"/>
                </a:lnTo>
                <a:lnTo>
                  <a:pt x="10716" y="1564928"/>
                </a:lnTo>
                <a:lnTo>
                  <a:pt x="7144" y="1556994"/>
                </a:lnTo>
                <a:lnTo>
                  <a:pt x="3572" y="1546346"/>
                </a:lnTo>
                <a:lnTo>
                  <a:pt x="0" y="1519813"/>
                </a:lnTo>
                <a:close/>
              </a:path>
            </a:pathLst>
          </a:custGeom>
          <a:solidFill>
            <a:srgbClr val="58A6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00745" y="1988046"/>
            <a:ext cx="6868251" cy="739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48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</a:t>
            </a:r>
            <a:r>
              <a:rPr lang="en-US" sz="820" dirty="0">
                <a:solidFill>
                  <a:srgbClr val="79C0FF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specs/ARCHITECTURE.md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820" dirty="0">
                <a:solidFill>
                  <a:srgbClr val="79C0FF"/>
                </a:solidFill>
                <a:highlight>
                  <a:srgbClr val="58A6FF">
                    <a:alpha val="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specs/feature/[FEATURE].md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full before writing any code.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Follow all architectural constraints. </a:t>
            </a: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complete implementation plan first, wait for my approval,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implement all files. After implementation, </a:t>
            </a: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spec requirement is satisfied.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0745" y="2835622"/>
            <a:ext cx="6733580" cy="9525"/>
          </a:xfrm>
          <a:prstGeom prst="rect">
            <a:avLst/>
          </a:prstGeom>
          <a:solidFill>
            <a:srgbClr val="58A6FF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412" y="2971660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37816" y="2973288"/>
            <a:ext cx="412780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copilot-agent-starter.md — paste at the top of every new agent session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2281386" y="3512344"/>
            <a:ext cx="1779303" cy="332482"/>
          </a:xfrm>
          <a:prstGeom prst="roundRect">
            <a:avLst>
              <a:gd name="adj" fmla="val 215052"/>
            </a:avLst>
          </a:prstGeom>
          <a:solidFill>
            <a:srgbClr val="58A6FF">
              <a:alpha val="9000"/>
            </a:srgbClr>
          </a:solidFill>
          <a:ln w="9525">
            <a:solidFill>
              <a:srgbClr val="58A6FF">
                <a:alpha val="28000"/>
              </a:srgbClr>
            </a:solidFill>
          </a:ln>
        </p:spPr>
        <p:txBody>
          <a:bodyPr wrap="none" lIns="157480" tIns="71120" rIns="157480" bIns="7112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8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r>
              <a:rPr lang="en-US" sz="840" b="1" kern="0" spc="8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Always reads spec first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126111" y="3512344"/>
            <a:ext cx="1439108" cy="332482"/>
          </a:xfrm>
          <a:prstGeom prst="roundRect">
            <a:avLst>
              <a:gd name="adj" fmla="val 215052"/>
            </a:avLst>
          </a:prstGeom>
          <a:solidFill>
            <a:srgbClr val="58A6FF">
              <a:alpha val="9000"/>
            </a:srgbClr>
          </a:solidFill>
          <a:ln w="9525">
            <a:solidFill>
              <a:srgbClr val="58A6FF">
                <a:alpha val="28000"/>
              </a:srgbClr>
            </a:solidFill>
          </a:ln>
        </p:spPr>
        <p:txBody>
          <a:bodyPr wrap="none" lIns="157480" tIns="71120" rIns="157480" bIns="7112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8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r>
              <a:rPr lang="en-US" sz="840" b="1" kern="0" spc="8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 before code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5637312" y="3512344"/>
            <a:ext cx="1249808" cy="332482"/>
          </a:xfrm>
          <a:prstGeom prst="roundRect">
            <a:avLst>
              <a:gd name="adj" fmla="val 215052"/>
            </a:avLst>
          </a:prstGeom>
          <a:solidFill>
            <a:srgbClr val="58A6FF">
              <a:alpha val="9000"/>
            </a:srgbClr>
          </a:solidFill>
          <a:ln w="9525">
            <a:solidFill>
              <a:srgbClr val="58A6FF">
                <a:alpha val="28000"/>
              </a:srgbClr>
            </a:solidFill>
          </a:ln>
        </p:spPr>
        <p:txBody>
          <a:bodyPr wrap="none" lIns="157480" tIns="71120" rIns="157480" bIns="7112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8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840" b="1" kern="0" spc="8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Self-verifying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3071515" y="4002286"/>
            <a:ext cx="300097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>
                  <a:alpha val="25000"/>
                </a:srgbClr>
              </a:gs>
              <a:gs pos="70000">
                <a:srgbClr val="58A6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145631" y="4138017"/>
            <a:ext cx="32887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as a snippet — paste it at the start of every agent session</a:t>
            </a:r>
            <a:endParaRPr lang="en-US" sz="79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2227" y="414695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000970" cy="2000250"/>
          </a:xfrm>
          <a:prstGeom prst="rect">
            <a:avLst/>
          </a:prstGeom>
          <a:gradFill rotWithShape="1">
            <a:gsLst>
              <a:gs pos="0">
                <a:srgbClr val="58A6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/>
              </a:gs>
              <a:gs pos="7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57770"/>
            <a:ext cx="29170" cy="271760"/>
          </a:xfrm>
          <a:prstGeom prst="roundRect">
            <a:avLst>
              <a:gd name="adj" fmla="val 47892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670" y="257770"/>
            <a:ext cx="1800436" cy="271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40"/>
              </a:lnSpc>
              <a:buNone/>
            </a:pPr>
            <a:r>
              <a:rPr lang="en-US" sz="214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</a:t>
            </a:r>
            <a:r>
              <a:rPr lang="en-US" sz="2140" kern="0" spc="-3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Practices</a:t>
            </a:r>
            <a:endParaRPr lang="en-US" sz="2140" dirty="0"/>
          </a:p>
        </p:txBody>
      </p:sp>
      <p:sp>
        <p:nvSpPr>
          <p:cNvPr id="8" name="Text 6"/>
          <p:cNvSpPr/>
          <p:nvPr/>
        </p:nvSpPr>
        <p:spPr>
          <a:xfrm>
            <a:off x="5746998" y="313581"/>
            <a:ext cx="32337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for reliable, high-quality AI spec-driven development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00050" y="786110"/>
            <a:ext cx="2705100" cy="2007245"/>
          </a:xfrm>
          <a:prstGeom prst="roundRect">
            <a:avLst>
              <a:gd name="adj" fmla="val 430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71341" y="895945"/>
            <a:ext cx="1209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567035" y="95309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542" y="1029602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9105" y="1022896"/>
            <a:ext cx="117757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Specs Small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567035" y="1295995"/>
            <a:ext cx="2418552" cy="142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per file. Monolithic specs </a:t>
            </a:r>
            <a:r>
              <a:rPr lang="en-US" sz="820" b="1" dirty="0">
                <a:solidFill>
                  <a:srgbClr val="58A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 the agent</a:t>
            </a: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dilute context — focused files get focused output.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3219450" y="786110"/>
            <a:ext cx="2705100" cy="2007245"/>
          </a:xfrm>
          <a:prstGeom prst="roundRect">
            <a:avLst>
              <a:gd name="adj" fmla="val 430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690741" y="895945"/>
            <a:ext cx="1209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3386435" y="95309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2942" y="1029602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58505" y="1022896"/>
            <a:ext cx="1459810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Non-Negotiables</a:t>
            </a:r>
            <a:endParaRPr lang="en-US" sz="960" dirty="0"/>
          </a:p>
        </p:txBody>
      </p:sp>
      <p:sp>
        <p:nvSpPr>
          <p:cNvPr id="20" name="Text 16"/>
          <p:cNvSpPr/>
          <p:nvPr/>
        </p:nvSpPr>
        <p:spPr>
          <a:xfrm>
            <a:off x="3386435" y="1295995"/>
            <a:ext cx="2418552" cy="142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list what the agent must </a:t>
            </a:r>
            <a:r>
              <a:rPr lang="en-US" sz="820" b="1" dirty="0">
                <a:solidFill>
                  <a:srgbClr val="58A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— e.g., no static classes, no raw SQL. Prohibitions prevent repeated mistakes.</a:t>
            </a:r>
            <a:endParaRPr lang="en-US" sz="820" dirty="0"/>
          </a:p>
        </p:txBody>
      </p:sp>
      <p:sp>
        <p:nvSpPr>
          <p:cNvPr id="21" name="Text 17"/>
          <p:cNvSpPr/>
          <p:nvPr/>
        </p:nvSpPr>
        <p:spPr>
          <a:xfrm>
            <a:off x="6038850" y="786110"/>
            <a:ext cx="2705100" cy="2007245"/>
          </a:xfrm>
          <a:prstGeom prst="roundRect">
            <a:avLst>
              <a:gd name="adj" fmla="val 430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8510141" y="895945"/>
            <a:ext cx="1209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6205835" y="95309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2342" y="1029602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77905" y="1022896"/>
            <a:ext cx="117724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Before Code</a:t>
            </a:r>
            <a:endParaRPr lang="en-US" sz="960" dirty="0"/>
          </a:p>
        </p:txBody>
      </p:sp>
      <p:sp>
        <p:nvSpPr>
          <p:cNvPr id="26" name="Text 21"/>
          <p:cNvSpPr/>
          <p:nvPr/>
        </p:nvSpPr>
        <p:spPr>
          <a:xfrm>
            <a:off x="6205835" y="1295995"/>
            <a:ext cx="2418552" cy="142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spec </a:t>
            </a:r>
            <a:r>
              <a:rPr lang="en-US" sz="820" b="1" dirty="0">
                <a:solidFill>
                  <a:srgbClr val="58A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opening the agent. Spec-first thinking = fewer iterations, cleaner output, and less rework.</a:t>
            </a:r>
            <a:endParaRPr lang="en-US" sz="820" dirty="0"/>
          </a:p>
        </p:txBody>
      </p:sp>
      <p:sp>
        <p:nvSpPr>
          <p:cNvPr id="27" name="Text 22"/>
          <p:cNvSpPr/>
          <p:nvPr/>
        </p:nvSpPr>
        <p:spPr>
          <a:xfrm>
            <a:off x="400050" y="2907655"/>
            <a:ext cx="2705100" cy="2007245"/>
          </a:xfrm>
          <a:prstGeom prst="roundRect">
            <a:avLst>
              <a:gd name="adj" fmla="val 430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871341" y="3017490"/>
            <a:ext cx="1209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567035" y="3074640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542" y="3151147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9105" y="3144441"/>
            <a:ext cx="1626632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Specs with Code</a:t>
            </a:r>
            <a:endParaRPr lang="en-US" sz="960" dirty="0"/>
          </a:p>
        </p:txBody>
      </p:sp>
      <p:sp>
        <p:nvSpPr>
          <p:cNvPr id="32" name="Text 26"/>
          <p:cNvSpPr/>
          <p:nvPr/>
        </p:nvSpPr>
        <p:spPr>
          <a:xfrm>
            <a:off x="567035" y="3417540"/>
            <a:ext cx="2418552" cy="142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live in git. PRs update </a:t>
            </a:r>
            <a:r>
              <a:rPr lang="en-US" sz="820" b="1" dirty="0">
                <a:solidFill>
                  <a:srgbClr val="58A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spec and implementation</a:t>
            </a: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together — the repo is the single source of truth.</a:t>
            </a:r>
            <a:endParaRPr lang="en-US" sz="820" dirty="0"/>
          </a:p>
        </p:txBody>
      </p:sp>
      <p:sp>
        <p:nvSpPr>
          <p:cNvPr id="33" name="Text 27"/>
          <p:cNvSpPr/>
          <p:nvPr/>
        </p:nvSpPr>
        <p:spPr>
          <a:xfrm>
            <a:off x="3219450" y="2907655"/>
            <a:ext cx="2705100" cy="2007245"/>
          </a:xfrm>
          <a:prstGeom prst="roundRect">
            <a:avLst>
              <a:gd name="adj" fmla="val 430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690741" y="3017490"/>
            <a:ext cx="1209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3386435" y="3074640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2942" y="3151147"/>
            <a:ext cx="132588" cy="132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58505" y="3144441"/>
            <a:ext cx="167918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Test Expectations</a:t>
            </a:r>
            <a:endParaRPr lang="en-US" sz="960" dirty="0"/>
          </a:p>
        </p:txBody>
      </p:sp>
      <p:sp>
        <p:nvSpPr>
          <p:cNvPr id="38" name="Text 31"/>
          <p:cNvSpPr/>
          <p:nvPr/>
        </p:nvSpPr>
        <p:spPr>
          <a:xfrm>
            <a:off x="3386435" y="3417540"/>
            <a:ext cx="2418552" cy="142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agent </a:t>
            </a:r>
            <a:r>
              <a:rPr lang="en-US" sz="820" b="1" dirty="0">
                <a:solidFill>
                  <a:srgbClr val="58A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 coverage is required</a:t>
            </a: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spec itself — unit, integration, edge cases — before the first line is written.</a:t>
            </a:r>
            <a:endParaRPr lang="en-US" sz="820" dirty="0"/>
          </a:p>
        </p:txBody>
      </p:sp>
      <p:sp>
        <p:nvSpPr>
          <p:cNvPr id="39" name="Text 32"/>
          <p:cNvSpPr/>
          <p:nvPr/>
        </p:nvSpPr>
        <p:spPr>
          <a:xfrm>
            <a:off x="6038850" y="2907655"/>
            <a:ext cx="2705100" cy="2007245"/>
          </a:xfrm>
          <a:prstGeom prst="roundRect">
            <a:avLst>
              <a:gd name="adj" fmla="val 430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8510141" y="3017490"/>
            <a:ext cx="1209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620" dirty="0"/>
          </a:p>
        </p:txBody>
      </p:sp>
      <p:sp>
        <p:nvSpPr>
          <p:cNvPr id="41" name="Text 34"/>
          <p:cNvSpPr/>
          <p:nvPr/>
        </p:nvSpPr>
        <p:spPr>
          <a:xfrm>
            <a:off x="6205835" y="3074640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2342" y="3151147"/>
            <a:ext cx="132588" cy="13258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577905" y="3144441"/>
            <a:ext cx="1385322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Spec in Chat</a:t>
            </a:r>
            <a:endParaRPr lang="en-US" sz="960" dirty="0"/>
          </a:p>
        </p:txBody>
      </p:sp>
      <p:sp>
        <p:nvSpPr>
          <p:cNvPr id="44" name="Text 36"/>
          <p:cNvSpPr/>
          <p:nvPr/>
        </p:nvSpPr>
        <p:spPr>
          <a:xfrm>
            <a:off x="6205835" y="3417540"/>
            <a:ext cx="2418552" cy="142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correcting agent output, </a:t>
            </a:r>
            <a:r>
              <a:rPr lang="en-US" sz="820" b="1" dirty="0">
                <a:solidFill>
                  <a:srgbClr val="58A6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spec section</a:t>
            </a: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"Per ARCHITECTURE.md §Patterns…" — keeps corrections precise and traceable.</a:t>
            </a:r>
            <a:endParaRPr lang="en-US" sz="820" dirty="0"/>
          </a:p>
        </p:txBody>
      </p:sp>
      <p:sp>
        <p:nvSpPr>
          <p:cNvPr id="45" name="Text 37"/>
          <p:cNvSpPr/>
          <p:nvPr/>
        </p:nvSpPr>
        <p:spPr>
          <a:xfrm>
            <a:off x="7569994" y="4885879"/>
            <a:ext cx="122848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80" dirty="0">
                <a:solidFill>
                  <a:srgbClr val="8B949E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SPEC-DRIVEN DEV</a:t>
            </a:r>
            <a:endParaRPr lang="en-US" sz="680" dirty="0"/>
          </a:p>
        </p:txBody>
      </p:sp>
      <p:sp>
        <p:nvSpPr>
          <p:cNvPr id="46" name="Text 38"/>
          <p:cNvSpPr/>
          <p:nvPr/>
        </p:nvSpPr>
        <p:spPr>
          <a:xfrm>
            <a:off x="409575" y="795635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0" y="13841"/>
                </a:lnTo>
                <a:close/>
              </a:path>
            </a:pathLst>
          </a:cu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409575" y="795635"/>
            <a:ext cx="2686050" cy="1988191"/>
          </a:xfrm>
          <a:prstGeom prst="roundRect">
            <a:avLst>
              <a:gd name="adj" fmla="val 4344"/>
            </a:avLst>
          </a:prstGeom>
          <a:gradFill rotWithShape="1">
            <a:gsLst>
              <a:gs pos="0">
                <a:srgbClr val="58A6FF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3228975" y="795635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0" y="13841"/>
                </a:lnTo>
                <a:close/>
              </a:path>
            </a:pathLst>
          </a:cu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3228975" y="795635"/>
            <a:ext cx="2686050" cy="1988191"/>
          </a:xfrm>
          <a:prstGeom prst="roundRect">
            <a:avLst>
              <a:gd name="adj" fmla="val 4344"/>
            </a:avLst>
          </a:prstGeom>
          <a:gradFill rotWithShape="1">
            <a:gsLst>
              <a:gs pos="0">
                <a:srgbClr val="58A6FF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6048375" y="795635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0" y="13841"/>
                </a:lnTo>
                <a:close/>
              </a:path>
            </a:pathLst>
          </a:cu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6048375" y="795635"/>
            <a:ext cx="2686050" cy="1988191"/>
          </a:xfrm>
          <a:prstGeom prst="roundRect">
            <a:avLst>
              <a:gd name="adj" fmla="val 4344"/>
            </a:avLst>
          </a:prstGeom>
          <a:gradFill rotWithShape="1">
            <a:gsLst>
              <a:gs pos="0">
                <a:srgbClr val="58A6FF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409575" y="2917180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0" y="13841"/>
                </a:lnTo>
                <a:close/>
              </a:path>
            </a:pathLst>
          </a:cu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409575" y="2917180"/>
            <a:ext cx="2686050" cy="1988191"/>
          </a:xfrm>
          <a:prstGeom prst="roundRect">
            <a:avLst>
              <a:gd name="adj" fmla="val 4344"/>
            </a:avLst>
          </a:prstGeom>
          <a:gradFill rotWithShape="1">
            <a:gsLst>
              <a:gs pos="0">
                <a:srgbClr val="58A6FF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3228975" y="2917180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0" y="13841"/>
                </a:lnTo>
                <a:close/>
              </a:path>
            </a:pathLst>
          </a:cu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3228975" y="2917180"/>
            <a:ext cx="2686050" cy="1988191"/>
          </a:xfrm>
          <a:prstGeom prst="roundRect">
            <a:avLst>
              <a:gd name="adj" fmla="val 4344"/>
            </a:avLst>
          </a:prstGeom>
          <a:gradFill rotWithShape="1">
            <a:gsLst>
              <a:gs pos="0">
                <a:srgbClr val="58A6FF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6048375" y="2917180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0" y="13841"/>
                </a:lnTo>
                <a:close/>
              </a:path>
            </a:pathLst>
          </a:custGeom>
          <a:solidFill>
            <a:srgbClr val="58A6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6048375" y="2917180"/>
            <a:ext cx="2686050" cy="1988191"/>
          </a:xfrm>
          <a:prstGeom prst="roundRect">
            <a:avLst>
              <a:gd name="adj" fmla="val 4344"/>
            </a:avLst>
          </a:prstGeom>
          <a:gradFill rotWithShape="1">
            <a:gsLst>
              <a:gs pos="0">
                <a:srgbClr val="58A6FF">
                  <a:alpha val="12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8A6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58A6FF"/>
              </a:gs>
              <a:gs pos="70000">
                <a:srgbClr val="58A6FF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8875" y="0"/>
            <a:ext cx="4286250" cy="999530"/>
          </a:xfrm>
          <a:prstGeom prst="rect">
            <a:avLst/>
          </a:prstGeom>
          <a:gradFill rotWithShape="1">
            <a:gsLst>
              <a:gs pos="0">
                <a:srgbClr val="58A6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6110" y="1500188"/>
            <a:ext cx="7571780" cy="4316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000000">
                  <a:alpha val="0"/>
                </a:srgbClr>
              </a:gs>
              <a:gs pos="40000">
                <a:srgbClr val="58A6FF">
                  <a:alpha val="20000"/>
                </a:srgbClr>
              </a:gs>
              <a:gs pos="50000">
                <a:srgbClr val="58A6FF">
                  <a:alpha val="35000"/>
                </a:srgbClr>
              </a:gs>
              <a:gs pos="60000">
                <a:srgbClr val="58A6FF">
                  <a:alpha val="20000"/>
                </a:srgbClr>
              </a:gs>
              <a:gs pos="9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softEdge rad="2159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77231" y="1724471"/>
            <a:ext cx="11430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45892" y="1724471"/>
            <a:ext cx="11430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14702" y="1724471"/>
            <a:ext cx="11430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83511" y="1724471"/>
            <a:ext cx="11430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52321" y="1724471"/>
            <a:ext cx="11430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6110" y="1515517"/>
            <a:ext cx="757178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30363D"/>
              </a:gs>
              <a:gs pos="50000">
                <a:srgbClr val="58A6FF"/>
              </a:gs>
              <a:gs pos="95000">
                <a:srgbClr val="30363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4355" y="1257746"/>
            <a:ext cx="400050" cy="40005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8500" y="1321891"/>
            <a:ext cx="271760" cy="298936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0050" y="1772096"/>
            <a:ext cx="1668661" cy="1168399"/>
          </a:xfrm>
          <a:prstGeom prst="roundRect">
            <a:avLst>
              <a:gd name="adj" fmla="val 6087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00330" tIns="114300" rIns="100330" bIns="100330" rtlCol="0" anchor="t"/>
          <a:lstStyle/>
          <a:p>
            <a:pPr marL="0" indent="0" algn="ctr">
              <a:buNone/>
            </a:pPr>
            <a:r>
              <a:rPr lang="en-US" sz="12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2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Tour</a:t>
            </a:r>
            <a:endParaRPr lang="en-US" sz="124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</a:t>
            </a:r>
            <a:r>
              <a:rPr lang="en-US" sz="7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620">
                <a:solidFill>
                  <a:srgbClr val="58A6FF"/>
                </a:solidFill>
                <a:highlight>
                  <a:srgbClr val="58A6FF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specs</a:t>
            </a:r>
            <a:r>
              <a:rPr lang="en-US" sz="620" dirty="0">
                <a:solidFill>
                  <a:srgbClr val="58A6FF"/>
                </a:solidFill>
                <a:highlight>
                  <a:srgbClr val="58A6FF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folder structure, show ARCHITECTURE.md and a feature spec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703016" y="1257746"/>
            <a:ext cx="400050" cy="40005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7161" y="1321891"/>
            <a:ext cx="271760" cy="298936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68711" y="1772096"/>
            <a:ext cx="1668810" cy="1035801"/>
          </a:xfrm>
          <a:prstGeom prst="roundRect">
            <a:avLst>
              <a:gd name="adj" fmla="val 686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00330" tIns="114300" rIns="100330" bIns="100330" rtlCol="0" anchor="t"/>
          <a:lstStyle/>
          <a:p>
            <a:pPr marL="0" indent="0" algn="ctr">
              <a:buNone/>
            </a:pPr>
            <a:r>
              <a:rPr lang="en-US" sz="12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2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Spec</a:t>
            </a:r>
            <a:endParaRPr lang="en-US" sz="1240" dirty="0"/>
          </a:p>
          <a:p>
            <a:pPr marL="0" indent="0" algn="ctr">
              <a:buNone/>
            </a:pPr>
            <a:endParaRPr lang="en-US" sz="124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USERS.md together, review entities, endpoints, and validation rules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4371826" y="1257746"/>
            <a:ext cx="400050" cy="400050"/>
          </a:xfrm>
          <a:prstGeom prst="ellipse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  <a:effectLst>
            <a:outerShdw blurRad="101600" dist="50800" dir="16200000" algn="bl" rotWithShape="0">
              <a:srgbClr val="58A6FF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35971" y="1321891"/>
            <a:ext cx="271760" cy="298936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76031" y="1210121"/>
            <a:ext cx="143470" cy="157817"/>
          </a:xfrm>
          <a:prstGeom prst="ellipse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3737521" y="1772096"/>
            <a:ext cx="1668810" cy="1035801"/>
          </a:xfrm>
          <a:prstGeom prst="roundRect">
            <a:avLst>
              <a:gd name="adj" fmla="val 6866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lIns="100330" tIns="114300" rIns="100330" bIns="100330" rtlCol="0" anchor="t"/>
          <a:lstStyle/>
          <a:p>
            <a:pPr marL="0" indent="0" algn="ctr">
              <a:buNone/>
            </a:pPr>
            <a:r>
              <a:rPr lang="en-US" sz="12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2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Prompt</a:t>
            </a:r>
            <a:endParaRPr lang="en-US" sz="1240" dirty="0"/>
          </a:p>
          <a:p>
            <a:pPr marL="0" indent="0" algn="ctr">
              <a:buNone/>
            </a:pPr>
            <a:endParaRPr lang="en-US" sz="124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reusable prompt into Copilot Agent, watch the plan generation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6040636" y="1257746"/>
            <a:ext cx="400050" cy="400050"/>
          </a:xfrm>
          <a:prstGeom prst="ellipse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04781" y="1321891"/>
            <a:ext cx="271760" cy="298936"/>
          </a:xfrm>
          <a:prstGeom prst="ellipse">
            <a:avLst/>
          </a:prstGeom>
          <a:solidFill>
            <a:srgbClr val="161B2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06330" y="1772096"/>
            <a:ext cx="1668810" cy="1035801"/>
          </a:xfrm>
          <a:prstGeom prst="roundRect">
            <a:avLst>
              <a:gd name="adj" fmla="val 686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00330" tIns="114300" rIns="100330" bIns="100330" rtlCol="0" anchor="t"/>
          <a:lstStyle/>
          <a:p>
            <a:pPr marL="0" indent="0" algn="ctr">
              <a:buNone/>
            </a:pPr>
            <a:r>
              <a:rPr lang="en-US" sz="12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2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Live</a:t>
            </a:r>
            <a:endParaRPr lang="en-US" sz="1240" dirty="0"/>
          </a:p>
          <a:p>
            <a:pPr marL="0" indent="0" algn="ctr">
              <a:buNone/>
            </a:pPr>
            <a:endParaRPr lang="en-US" sz="124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endpoints, repository, validator, and unit tests in real time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709446" y="1257746"/>
            <a:ext cx="400050" cy="400050"/>
          </a:xfrm>
          <a:prstGeom prst="ellipse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73591" y="1321891"/>
            <a:ext cx="271760" cy="298936"/>
          </a:xfrm>
          <a:prstGeom prst="ellipse">
            <a:avLst/>
          </a:prstGeom>
          <a:solidFill>
            <a:srgbClr val="161B2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75140" y="1772096"/>
            <a:ext cx="1668810" cy="1035801"/>
          </a:xfrm>
          <a:prstGeom prst="roundRect">
            <a:avLst>
              <a:gd name="adj" fmla="val 686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00330" tIns="114300" rIns="100330" bIns="100330" rtlCol="0" anchor="t"/>
          <a:lstStyle/>
          <a:p>
            <a:pPr marL="0" indent="0" algn="ctr">
              <a:buNone/>
            </a:pPr>
            <a:r>
              <a:rPr lang="en-US" sz="12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Iterate</a:t>
            </a:r>
            <a:endParaRPr lang="en-US" sz="1240" dirty="0"/>
          </a:p>
          <a:p>
            <a:pPr marL="0" indent="0" algn="ctr">
              <a:buNone/>
            </a:pPr>
            <a:endParaRPr lang="en-US" sz="124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spec requirement, find it in the code, then request one deliberate change</a:t>
            </a:r>
            <a:endParaRPr lang="en-US" sz="124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332" y="1611148"/>
            <a:ext cx="132588" cy="132588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4970" y="1611148"/>
            <a:ext cx="132588" cy="132588"/>
          </a:xfrm>
          <a:prstGeom prst="rect">
            <a:avLst/>
          </a:prstGeom>
        </p:spPr>
      </p:pic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6458" y="1611148"/>
            <a:ext cx="132588" cy="132588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8096" y="1611148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57200" y="314920"/>
            <a:ext cx="90525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340"/>
              </a:spcAft>
              <a:buNone/>
            </a:pPr>
            <a:r>
              <a:rPr lang="en-US" sz="680" b="1" kern="0" spc="17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80" dirty="0"/>
          </a:p>
        </p:txBody>
      </p:sp>
      <p:sp>
        <p:nvSpPr>
          <p:cNvPr id="34" name="Text 28"/>
          <p:cNvSpPr/>
          <p:nvPr/>
        </p:nvSpPr>
        <p:spPr>
          <a:xfrm>
            <a:off x="457200" y="487561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230"/>
              </a:spcAft>
              <a:buNone/>
            </a:pPr>
            <a:r>
              <a:rPr lang="en-US" sz="236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</a:t>
            </a:r>
            <a:r>
              <a:rPr lang="en-US" sz="2360" b="1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 Flow</a:t>
            </a:r>
            <a:endParaRPr lang="en-US" sz="2360" dirty="0"/>
          </a:p>
        </p:txBody>
      </p:sp>
      <p:sp>
        <p:nvSpPr>
          <p:cNvPr id="35" name="Text 29"/>
          <p:cNvSpPr/>
          <p:nvPr/>
        </p:nvSpPr>
        <p:spPr>
          <a:xfrm>
            <a:off x="457200" y="846386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36" name="Text 30"/>
          <p:cNvSpPr/>
          <p:nvPr/>
        </p:nvSpPr>
        <p:spPr>
          <a:xfrm>
            <a:off x="2957215" y="4686002"/>
            <a:ext cx="3229421" cy="256877"/>
          </a:xfrm>
          <a:prstGeom prst="roundRect">
            <a:avLst>
              <a:gd name="adj" fmla="val 66744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3110210" y="4792861"/>
            <a:ext cx="43160" cy="43160"/>
          </a:xfrm>
          <a:prstGeom prst="ellipse">
            <a:avLst/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3210520" y="4744938"/>
            <a:ext cx="29546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will be shared after the session</a:t>
            </a:r>
            <a:endParaRPr lang="en-US" sz="73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7387" y="4748073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986141" y="200620"/>
            <a:ext cx="1785789" cy="223391"/>
          </a:xfrm>
          <a:prstGeom prst="roundRect">
            <a:avLst>
              <a:gd name="adj" fmla="val 25583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7095976" y="283666"/>
            <a:ext cx="57150" cy="57150"/>
          </a:xfrm>
          <a:prstGeom prst="ellipse">
            <a:avLst/>
          </a:prstGeom>
          <a:solidFill>
            <a:srgbClr val="58A6FF"/>
          </a:solidFill>
          <a:ln/>
          <a:effectLst>
            <a:outerShdw blurRad="57150" dist="50800" dir="16200000" algn="bl" rotWithShape="0">
              <a:srgbClr val="58A6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7210276" y="253305"/>
            <a:ext cx="159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 .NET USER GROUP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57015" y="0"/>
            <a:ext cx="6429970" cy="2715220"/>
          </a:xfrm>
          <a:prstGeom prst="rect">
            <a:avLst/>
          </a:prstGeom>
          <a:gradFill rotWithShape="1">
            <a:gsLst>
              <a:gs pos="0">
                <a:srgbClr val="58A6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5279" y="200620"/>
            <a:ext cx="1597137" cy="244376"/>
          </a:xfrm>
          <a:prstGeom prst="roundRect">
            <a:avLst>
              <a:gd name="adj" fmla="val 17669"/>
            </a:avLst>
          </a:prstGeom>
          <a:solidFill>
            <a:srgbClr val="161B22"/>
          </a:soli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 .NET User Group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133457" y="4146054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92095" y="4146054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0734" y="4146054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68159" y="4146054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85584" y="4146054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44223" y="4146054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02861" y="4146054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33457" y="4204692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50734" y="4204692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68159" y="4204692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85584" y="4204692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02861" y="4204692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33457" y="4263330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50734" y="4263330"/>
            <a:ext cx="44946" cy="44946"/>
          </a:xfrm>
          <a:prstGeom prst="roundRect">
            <a:avLst>
              <a:gd name="adj" fmla="val 16954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09521" y="4263330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26797" y="4263330"/>
            <a:ext cx="44946" cy="44946"/>
          </a:xfrm>
          <a:prstGeom prst="roundRect">
            <a:avLst>
              <a:gd name="adj" fmla="val 16954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85584" y="4263330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02861" y="4263330"/>
            <a:ext cx="44946" cy="44946"/>
          </a:xfrm>
          <a:prstGeom prst="roundRect">
            <a:avLst>
              <a:gd name="adj" fmla="val 16954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09521" y="4322118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68159" y="4322118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26797" y="4322118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33457" y="4380756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92095" y="4380756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09521" y="4380756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426797" y="4380756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44223" y="4380756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602861" y="4380756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309521" y="4439394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368159" y="4439394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426797" y="4439394"/>
            <a:ext cx="44946" cy="44946"/>
          </a:xfrm>
          <a:prstGeom prst="roundRect">
            <a:avLst>
              <a:gd name="adj" fmla="val 16954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33457" y="4498181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250734" y="4498181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309521" y="4498181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426797" y="4498181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485584" y="4498181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602861" y="4498181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133457" y="4556820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250734" y="4556820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368159" y="4556820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485584" y="4556820"/>
            <a:ext cx="44797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602861" y="4556820"/>
            <a:ext cx="44946" cy="44797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133457" y="4615458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192095" y="4615458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250734" y="4615458"/>
            <a:ext cx="44946" cy="44946"/>
          </a:xfrm>
          <a:prstGeom prst="roundRect">
            <a:avLst>
              <a:gd name="adj" fmla="val 16954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368159" y="4615458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485584" y="4615458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544223" y="4615458"/>
            <a:ext cx="44797" cy="44946"/>
          </a:xfrm>
          <a:prstGeom prst="roundRect">
            <a:avLst>
              <a:gd name="adj" fmla="val 17010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602861" y="4615458"/>
            <a:ext cx="44946" cy="44946"/>
          </a:xfrm>
          <a:prstGeom prst="roundRect">
            <a:avLst>
              <a:gd name="adj" fmla="val 16954"/>
            </a:avLst>
          </a:prstGeom>
          <a:solidFill>
            <a:srgbClr val="58A6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0" y="4828580"/>
            <a:ext cx="9144000" cy="314920"/>
          </a:xfrm>
          <a:prstGeom prst="rect">
            <a:avLst/>
          </a:prstGeom>
          <a:solidFill>
            <a:srgbClr val="161B22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0" y="4828580"/>
            <a:ext cx="9144000" cy="9525"/>
          </a:xfrm>
          <a:prstGeom prst="rect">
            <a:avLst/>
          </a:prstGeom>
          <a:solidFill>
            <a:srgbClr val="58A6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42900" y="4925019"/>
            <a:ext cx="603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Chu</a:t>
            </a:r>
            <a:endParaRPr lang="en-US" sz="790" dirty="0"/>
          </a:p>
        </p:txBody>
      </p:sp>
      <p:sp>
        <p:nvSpPr>
          <p:cNvPr id="60" name="Text 58"/>
          <p:cNvSpPr/>
          <p:nvPr/>
        </p:nvSpPr>
        <p:spPr>
          <a:xfrm>
            <a:off x="809179" y="4979194"/>
            <a:ext cx="29170" cy="29170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292400" y="4979194"/>
            <a:ext cx="29170" cy="29170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3263" y="4924508"/>
            <a:ext cx="132588" cy="132588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7509570" y="4921300"/>
            <a:ext cx="14206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prompting. Start speccing.</a:t>
            </a:r>
            <a:endParaRPr lang="en-US" sz="730" dirty="0"/>
          </a:p>
        </p:txBody>
      </p:sp>
      <p:sp>
        <p:nvSpPr>
          <p:cNvPr id="64" name="Text 61"/>
          <p:cNvSpPr/>
          <p:nvPr/>
        </p:nvSpPr>
        <p:spPr>
          <a:xfrm>
            <a:off x="1115764" y="1771352"/>
            <a:ext cx="2195808" cy="13841"/>
          </a:xfrm>
          <a:custGeom>
            <a:avLst/>
            <a:gdLst/>
            <a:ahLst/>
            <a:cxnLst/>
            <a:rect l="l" t="t" r="r" b="b"/>
            <a:pathLst>
              <a:path w="2195808" h="13841">
                <a:moveTo>
                  <a:pt x="86360" y="0"/>
                </a:moveTo>
                <a:lnTo>
                  <a:pt x="2109448" y="0"/>
                </a:lnTo>
                <a:lnTo>
                  <a:pt x="2126648" y="1730"/>
                </a:lnTo>
                <a:lnTo>
                  <a:pt x="2133649" y="3460"/>
                </a:lnTo>
                <a:lnTo>
                  <a:pt x="2138936" y="5190"/>
                </a:lnTo>
                <a:lnTo>
                  <a:pt x="2143321" y="6920"/>
                </a:lnTo>
                <a:lnTo>
                  <a:pt x="2147121" y="8651"/>
                </a:lnTo>
                <a:lnTo>
                  <a:pt x="2150499" y="10381"/>
                </a:lnTo>
                <a:lnTo>
                  <a:pt x="2153551" y="12111"/>
                </a:lnTo>
                <a:lnTo>
                  <a:pt x="2156342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3474095" y="1771352"/>
            <a:ext cx="2195808" cy="13841"/>
          </a:xfrm>
          <a:custGeom>
            <a:avLst/>
            <a:gdLst/>
            <a:ahLst/>
            <a:cxnLst/>
            <a:rect l="l" t="t" r="r" b="b"/>
            <a:pathLst>
              <a:path w="2195808" h="13841">
                <a:moveTo>
                  <a:pt x="86360" y="0"/>
                </a:moveTo>
                <a:lnTo>
                  <a:pt x="2109448" y="0"/>
                </a:lnTo>
                <a:lnTo>
                  <a:pt x="2126648" y="1730"/>
                </a:lnTo>
                <a:lnTo>
                  <a:pt x="2133649" y="3460"/>
                </a:lnTo>
                <a:lnTo>
                  <a:pt x="2138936" y="5190"/>
                </a:lnTo>
                <a:lnTo>
                  <a:pt x="2143321" y="6920"/>
                </a:lnTo>
                <a:lnTo>
                  <a:pt x="2147121" y="8651"/>
                </a:lnTo>
                <a:lnTo>
                  <a:pt x="2150499" y="10381"/>
                </a:lnTo>
                <a:lnTo>
                  <a:pt x="2153551" y="12111"/>
                </a:lnTo>
                <a:lnTo>
                  <a:pt x="2156342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5832425" y="1771352"/>
            <a:ext cx="2195808" cy="13841"/>
          </a:xfrm>
          <a:custGeom>
            <a:avLst/>
            <a:gdLst/>
            <a:ahLst/>
            <a:cxnLst/>
            <a:rect l="l" t="t" r="r" b="b"/>
            <a:pathLst>
              <a:path w="2195808" h="13841">
                <a:moveTo>
                  <a:pt x="86360" y="0"/>
                </a:moveTo>
                <a:lnTo>
                  <a:pt x="2109448" y="0"/>
                </a:lnTo>
                <a:lnTo>
                  <a:pt x="2126648" y="1730"/>
                </a:lnTo>
                <a:lnTo>
                  <a:pt x="2133649" y="3460"/>
                </a:lnTo>
                <a:lnTo>
                  <a:pt x="2138936" y="5190"/>
                </a:lnTo>
                <a:lnTo>
                  <a:pt x="2143321" y="6920"/>
                </a:lnTo>
                <a:lnTo>
                  <a:pt x="2147121" y="8651"/>
                </a:lnTo>
                <a:lnTo>
                  <a:pt x="2150499" y="10381"/>
                </a:lnTo>
                <a:lnTo>
                  <a:pt x="2153551" y="12111"/>
                </a:lnTo>
                <a:lnTo>
                  <a:pt x="2156342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58A6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2151930" y="257770"/>
            <a:ext cx="4840141" cy="49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4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2080751" y="730151"/>
            <a:ext cx="4982498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86"/>
              </a:lnSpc>
              <a:buNone/>
            </a:pPr>
            <a:r>
              <a:rPr lang="en-US" sz="326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Thanks, </a:t>
            </a:r>
            <a:r>
              <a:rPr lang="en-US" sz="3260" b="1" kern="0" spc="-30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Edmonton .NET!</a:t>
            </a:r>
            <a:endParaRPr lang="en-US" sz="3260" dirty="0"/>
          </a:p>
        </p:txBody>
      </p:sp>
      <p:sp>
        <p:nvSpPr>
          <p:cNvPr id="69" name="Text 66"/>
          <p:cNvSpPr/>
          <p:nvPr/>
        </p:nvSpPr>
        <p:spPr>
          <a:xfrm>
            <a:off x="1962120" y="1228725"/>
            <a:ext cx="52197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spcBef>
                <a:spcPts val="340"/>
              </a:spcBef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Spec-Driven Development — slides &amp; repo shared after tonight</a:t>
            </a:r>
            <a:endParaRPr lang="en-US" sz="960" dirty="0"/>
          </a:p>
        </p:txBody>
      </p:sp>
      <p:sp>
        <p:nvSpPr>
          <p:cNvPr id="70" name="Text 67"/>
          <p:cNvSpPr/>
          <p:nvPr/>
        </p:nvSpPr>
        <p:spPr>
          <a:xfrm>
            <a:off x="4343400" y="1497806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8A6FF"/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1106239" y="1761827"/>
            <a:ext cx="2214860" cy="1808262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1273225" y="1914823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6726" y="1998324"/>
            <a:ext cx="132588" cy="132588"/>
          </a:xfrm>
          <a:prstGeom prst="rect">
            <a:avLst/>
          </a:prstGeom>
        </p:spPr>
      </p:pic>
      <p:sp>
        <p:nvSpPr>
          <p:cNvPr id="74" name="Text 70"/>
          <p:cNvSpPr/>
          <p:nvPr/>
        </p:nvSpPr>
        <p:spPr>
          <a:xfrm>
            <a:off x="1273225" y="2300734"/>
            <a:ext cx="20689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REPO</a:t>
            </a:r>
            <a:endParaRPr lang="en-US" sz="620" dirty="0"/>
          </a:p>
        </p:txBody>
      </p:sp>
      <p:sp>
        <p:nvSpPr>
          <p:cNvPr id="75" name="Text 71"/>
          <p:cNvSpPr/>
          <p:nvPr/>
        </p:nvSpPr>
        <p:spPr>
          <a:xfrm>
            <a:off x="1273225" y="2447925"/>
            <a:ext cx="206897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340"/>
              </a:spcAft>
              <a:buNone/>
            </a:pPr>
            <a:r>
              <a:rPr lang="en-US" sz="101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Fork &amp; Start Speccing</a:t>
            </a:r>
            <a:endParaRPr lang="en-US" sz="1010" dirty="0"/>
          </a:p>
        </p:txBody>
      </p:sp>
      <p:sp>
        <p:nvSpPr>
          <p:cNvPr id="76" name="Text 72"/>
          <p:cNvSpPr/>
          <p:nvPr/>
        </p:nvSpPr>
        <p:spPr>
          <a:xfrm>
            <a:off x="1273225" y="2683520"/>
            <a:ext cx="2068979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github.com/michaelchu28/</a:t>
            </a:r>
            <a:b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ai-spec-driven-development</a:t>
            </a:r>
            <a:endParaRPr lang="en-US" sz="700" dirty="0"/>
          </a:p>
        </p:txBody>
      </p:sp>
      <p:sp>
        <p:nvSpPr>
          <p:cNvPr id="77" name="Text 73"/>
          <p:cNvSpPr/>
          <p:nvPr/>
        </p:nvSpPr>
        <p:spPr>
          <a:xfrm>
            <a:off x="1273225" y="2972990"/>
            <a:ext cx="1918508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starter, drop in your own spec files, and ship your first AI spec-driven feature tonight.</a:t>
            </a:r>
            <a:endParaRPr lang="en-US" sz="790" dirty="0"/>
          </a:p>
        </p:txBody>
      </p:sp>
      <p:sp>
        <p:nvSpPr>
          <p:cNvPr id="78" name="Text 74"/>
          <p:cNvSpPr/>
          <p:nvPr/>
        </p:nvSpPr>
        <p:spPr>
          <a:xfrm>
            <a:off x="3464570" y="1761827"/>
            <a:ext cx="2214860" cy="1808262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3631555" y="1914823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5057" y="1998324"/>
            <a:ext cx="132588" cy="132588"/>
          </a:xfrm>
          <a:prstGeom prst="rect">
            <a:avLst/>
          </a:prstGeom>
        </p:spPr>
      </p:pic>
      <p:sp>
        <p:nvSpPr>
          <p:cNvPr id="81" name="Text 76"/>
          <p:cNvSpPr/>
          <p:nvPr/>
        </p:nvSpPr>
        <p:spPr>
          <a:xfrm>
            <a:off x="3631555" y="2300734"/>
            <a:ext cx="20689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</a:t>
            </a:r>
            <a:endParaRPr lang="en-US" sz="620" dirty="0"/>
          </a:p>
        </p:txBody>
      </p:sp>
      <p:sp>
        <p:nvSpPr>
          <p:cNvPr id="82" name="Text 77"/>
          <p:cNvSpPr/>
          <p:nvPr/>
        </p:nvSpPr>
        <p:spPr>
          <a:xfrm>
            <a:off x="3631555" y="2447925"/>
            <a:ext cx="206897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340"/>
              </a:spcAft>
              <a:buNone/>
            </a:pPr>
            <a:r>
              <a:rPr lang="en-US" sz="101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Agent</a:t>
            </a:r>
            <a:endParaRPr lang="en-US" sz="1010" dirty="0"/>
          </a:p>
        </p:txBody>
      </p:sp>
      <p:sp>
        <p:nvSpPr>
          <p:cNvPr id="83" name="Text 78"/>
          <p:cNvSpPr/>
          <p:nvPr/>
        </p:nvSpPr>
        <p:spPr>
          <a:xfrm>
            <a:off x="3631555" y="2300734"/>
            <a:ext cx="1918508" cy="118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docs.github.com/copilot/using-github-copilot</a:t>
            </a:r>
            <a:endParaRPr lang="en-US" sz="7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using-copilot-coding-agent</a:t>
            </a:r>
            <a:endParaRPr lang="en-US" sz="700" dirty="0"/>
          </a:p>
        </p:txBody>
      </p:sp>
      <p:sp>
        <p:nvSpPr>
          <p:cNvPr id="84" name="Text 79"/>
          <p:cNvSpPr/>
          <p:nvPr/>
        </p:nvSpPr>
        <p:spPr>
          <a:xfrm>
            <a:off x="3631555" y="3126284"/>
            <a:ext cx="1918508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for agent mode, prompting patterns, and workspace configuration.</a:t>
            </a:r>
            <a:endParaRPr lang="en-US" sz="790" dirty="0"/>
          </a:p>
        </p:txBody>
      </p:sp>
      <p:sp>
        <p:nvSpPr>
          <p:cNvPr id="85" name="Text 80"/>
          <p:cNvSpPr/>
          <p:nvPr/>
        </p:nvSpPr>
        <p:spPr>
          <a:xfrm>
            <a:off x="5822900" y="1761827"/>
            <a:ext cx="2214860" cy="1808262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58A6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1"/>
          <p:cNvSpPr/>
          <p:nvPr/>
        </p:nvSpPr>
        <p:spPr>
          <a:xfrm>
            <a:off x="5989886" y="1914823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58A6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73387" y="1998324"/>
            <a:ext cx="132588" cy="132588"/>
          </a:xfrm>
          <a:prstGeom prst="rect">
            <a:avLst/>
          </a:prstGeom>
        </p:spPr>
      </p:pic>
      <p:sp>
        <p:nvSpPr>
          <p:cNvPr id="88" name="Text 82"/>
          <p:cNvSpPr/>
          <p:nvPr/>
        </p:nvSpPr>
        <p:spPr>
          <a:xfrm>
            <a:off x="5989886" y="2300734"/>
            <a:ext cx="20689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620" dirty="0"/>
          </a:p>
        </p:txBody>
      </p:sp>
      <p:sp>
        <p:nvSpPr>
          <p:cNvPr id="89" name="Text 83"/>
          <p:cNvSpPr/>
          <p:nvPr/>
        </p:nvSpPr>
        <p:spPr>
          <a:xfrm>
            <a:off x="5989886" y="2447925"/>
            <a:ext cx="206897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340"/>
              </a:spcAft>
              <a:buNone/>
            </a:pPr>
            <a:r>
              <a:rPr lang="en-US" sz="101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Meetup</a:t>
            </a:r>
            <a:endParaRPr lang="en-US" sz="1010" dirty="0"/>
          </a:p>
        </p:txBody>
      </p:sp>
      <p:sp>
        <p:nvSpPr>
          <p:cNvPr id="90" name="Text 84"/>
          <p:cNvSpPr/>
          <p:nvPr/>
        </p:nvSpPr>
        <p:spPr>
          <a:xfrm>
            <a:off x="5989886" y="2683520"/>
            <a:ext cx="2068979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Edmonton .NET — meetup event link</a:t>
            </a:r>
            <a:endParaRPr lang="en-US" sz="700" dirty="0"/>
          </a:p>
        </p:txBody>
      </p:sp>
      <p:sp>
        <p:nvSpPr>
          <p:cNvPr id="91" name="Text 85"/>
          <p:cNvSpPr/>
          <p:nvPr/>
        </p:nvSpPr>
        <p:spPr>
          <a:xfrm>
            <a:off x="5989886" y="2859881"/>
            <a:ext cx="1918508" cy="45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community, share your specs, ask questions, and stay connected with local devs.</a:t>
            </a:r>
            <a:endParaRPr lang="en-US" sz="790" dirty="0"/>
          </a:p>
        </p:txBody>
      </p:sp>
      <p:sp>
        <p:nvSpPr>
          <p:cNvPr id="92" name="Text 86"/>
          <p:cNvSpPr/>
          <p:nvPr/>
        </p:nvSpPr>
        <p:spPr>
          <a:xfrm>
            <a:off x="1074420" y="3727549"/>
            <a:ext cx="6995160" cy="497830"/>
          </a:xfrm>
          <a:prstGeom prst="roundRect">
            <a:avLst>
              <a:gd name="adj" fmla="val 57399"/>
            </a:avLst>
          </a:prstGeom>
          <a:gradFill rotWithShape="1">
            <a:gsLst>
              <a:gs pos="0">
                <a:srgbClr val="58A6FF">
                  <a:alpha val="15000"/>
                </a:srgbClr>
              </a:gs>
              <a:gs pos="100000">
                <a:srgbClr val="58A6FF">
                  <a:alpha val="6000"/>
                </a:srgbClr>
              </a:gs>
            </a:gsLst>
            <a:lin ang="2700000" scaled="1"/>
          </a:gradFill>
          <a:ln w="9525">
            <a:solidFill>
              <a:srgbClr val="58A6FF">
                <a:alpha val="30000"/>
              </a:srgbClr>
            </a:solidFill>
          </a:ln>
        </p:spPr>
        <p:txBody>
          <a:bodyPr wrap="none" lIns="342900" tIns="100330" rIns="342900" bIns="100330" rtlCol="0" anchor="t"/>
          <a:lstStyle/>
          <a:p>
            <a:pPr marL="0" indent="0" algn="ctr">
              <a:buNone/>
            </a:pPr>
            <a:r>
              <a:rPr lang="en-US" sz="1460" kern="0" spc="15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spec will </a:t>
            </a:r>
            <a:r>
              <a:rPr lang="en-US" sz="1460" b="1" kern="0" spc="15" dirty="0">
                <a:solidFill>
                  <a:srgbClr val="58A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</a:t>
            </a:r>
            <a:r>
              <a:rPr lang="en-US" sz="1460" kern="0" spc="15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write first? 🚀</a:t>
            </a:r>
            <a:endParaRPr lang="en-US" sz="1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1648</Words>
  <Application>Microsoft Office PowerPoint</Application>
  <PresentationFormat>On-screen Show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 </cp:lastModifiedBy>
  <cp:revision>9</cp:revision>
  <dcterms:created xsi:type="dcterms:W3CDTF">2026-10-12T04:44:05Z</dcterms:created>
  <dcterms:modified xsi:type="dcterms:W3CDTF">2026-10-25T22:32:58Z</dcterms:modified>
</cp:coreProperties>
</file>